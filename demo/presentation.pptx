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55fed00-8103-e993-3136-b32f5510d902}">
          <p14:sldIdLst>
            <p14:sldId id="256"/>
            <p14:sldId id="257"/>
            <p14:sldId id="258"/>
          </p14:sldIdLst>
        </p14:section>
        <p14:section name="Architecture" id="{3e4eea1d-aa27-832b-6fee-89a73d794ad6}">
          <p14:sldIdLst>
            <p14:sldId id="259"/>
          </p14:sldIdLst>
        </p14:section>
        <p14:section name="Build" id="{6d3ed492-0ec3-1e8c-f1bb-df182b380e5d}">
          <p14:sldIdLst>
            <p14:sldId id="260"/>
            <p14:sldId id="261"/>
          </p14:sldIdLst>
        </p14:section>
        <p14:section name="Delivery" id="{c67b7e7f-a92b-9bff-38f3-7c4897fdad39}">
          <p14:sldIdLst>
            <p14:sldId id="262"/>
            <p14:sldId id="263"/>
          </p14:sldIdLst>
        </p14:section>
        <p14:section name="Infrastructure" id="{99a15058-e830-8b6c-7bfb-291e018c9e06}">
          <p14:sldIdLst>
            <p14:sldId id="264"/>
          </p14:sldIdLst>
        </p14:section>
        <p14:section name="Platform" id="{59d07186-5ab2-8e98-c4d5-3e22afe96c38}">
          <p14:sldIdLst>
            <p14:sldId id="265"/>
            <p14:sldId id="266"/>
          </p14:sldIdLst>
        </p14:section>
        <p14:section name="Operations" id="{fcdbbf8a-5974-a26d-89ee-5a887b7a19dc}">
          <p14:sldIdLst>
            <p14:sldId id="267"/>
          </p14:sldIdLst>
        </p14:section>
        <p14:section name="Reflection" id="{b0fb5781-f753-57db-8913-cd191301b7b9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yourself. ShelfLife is a pantry and expiry tracker. The talk covers what was built, the architecture, and then each DevOps layer with live proof: CI/CD, security scanning, Terraform on AWS, Kubernetes with Helm, GitOps with Argo CD, and Prometheus and Grafana.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product in plain words for a non-technical viewer. Data entered in the UI goes through the FastAPI backend into PostgreSQL and survives a refresh or restart.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per tile. Mention that every version is pinned in the repository and that Traefik replaced ingress-nginx because the ingress-nginx project was archived in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request path left to right, then the operations side: Prometheus scrapes the backend, Grafana reads Prometheus, Argo CD keeps the cluster equal to what is in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folder structure and explain the design decisions: migrations owned by Alembic and run before the API starts, non-root containers, relative API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 are the first gate: if one fails, no image is built or pushed. 17 tests passed locally during development; show your own pytest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 a push live, show the run starting, and narrate the jobs. Point out the needs chain and the SHA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one finding or the clean result in two or three sentences, as written in docs/TRIVY.md. Make clear the local scan was during development; the pipeline result is the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terraform plan, the console proof, then explain the cost decisions: public subnets instead of NAT, standard support policy, and the destroy at the end. State the actual cost you saw in the Billing console.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local Kubernetes deployment proof. Run the commands live. Mention that the same chart runs on EKS with values-eks.yaml.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synced application, then demonstrate the GitOps flow: push a change, the pipeline commits the new SHA, Argo CD rolls it out. Optionally scale a deployment by hand and watch self-heal revert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scripts/generate-traffic.sh first so the panels move. Show the target UP, then the dashboard. The traffic script sends some deliberate 404s, which is why the error ratio panel is not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two rows and explain them in your own words. These are the questions an examiner is most likely to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every status to what you actually achieved, with the pipeline URL and the AWS cost you saw. Do not claim anything you did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or extend these with what you personally learned; graders value honest reflection.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repository link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004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ShelfLife DevOps capstone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ShelfLife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004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From a laptop to a monitored Kubernetes deployment: a DevSecOps capstone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[Your name]  |  [Course / batch]  | 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ShelfLife does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Food goes off because nobody remembers what is at the back of the fridge.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Record each item: where it is stored, how much is left, and its use-by date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"Use these first" shelf shows expired and soon-to-expire food first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Counts and filters: expired, use within 3 days, running low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"Use 1" updates the quantity; everything is saved in PostgreSQL</a:t>
            </a:r>
            <a:endParaRPr lang="en-US" sz="1600" dirty="0"/>
          </a:p>
        </p:txBody>
      </p:sp>
      <p:sp>
        <p:nvSpPr>
          <p:cNvPr id="5" name="PLACEHOLDER E01"/>
          <p:cNvSpPr/>
          <p:nvPr/>
        </p:nvSpPr>
        <p:spPr>
          <a:xfrm>
            <a:off x="5943600" y="1371600"/>
            <a:ext cx="5669280" cy="457200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6" name="PLACEHOLDER E01 text"/>
          <p:cNvSpPr txBox="1"/>
          <p:nvPr/>
        </p:nvSpPr>
        <p:spPr>
          <a:xfrm>
            <a:off x="6080760" y="1481328"/>
            <a:ext cx="5394960" cy="435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8A5D00"/>
                </a:solidFill>
              </a:rPr>
              <a:t>PLACEHOLDER: E01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Paste: ShelfLife in the browser at http://localhost:3000 with demo data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Must show: the Use-these-first shelf, the inventory list and the URL bar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6184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Application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React 19 + Vite, FastAPI, PostgreSQL 17, SQLAlchemy, Alembic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84448" y="1645920"/>
            <a:ext cx="384048" cy="384048"/>
          </a:xfrm>
          <a:prstGeom prst="ellipse">
            <a:avLst/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87368" y="16184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Quality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pytest (17 tests), Ruff lint, migration check on Postgres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1656" y="1645920"/>
            <a:ext cx="384048" cy="384048"/>
          </a:xfrm>
          <a:prstGeom prst="ellipse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94576" y="16184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Containers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Multi-stage Dockerfiles, non-root users, Docker Compose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98864" y="1645920"/>
            <a:ext cx="384048" cy="384048"/>
          </a:xfrm>
          <a:prstGeom prst="ellipse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01784" y="16184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CI/CD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98864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GitHub Actions, GitHub Container Registry, commit-SHA tags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069080"/>
            <a:ext cx="384048" cy="384048"/>
          </a:xfrm>
          <a:prstGeom prst="ellipse">
            <a:avLst/>
          </a:prstGeom>
          <a:solidFill>
            <a:srgbClr val="D6453D"/>
          </a:solidFill>
          <a:ln w="12700">
            <a:solidFill>
              <a:srgbClr val="D645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041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Security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663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Trivy gate on both images (HIGH/CRITICAL fails the build)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55848" y="38404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84448" y="4069080"/>
            <a:ext cx="384048" cy="384048"/>
          </a:xfrm>
          <a:prstGeom prst="ellipse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041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Cloud and IaC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584448" y="4663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Terraform, AWS VPC (2 public subnets), EKS 1.36, node group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63056" y="38404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1656" y="4069080"/>
            <a:ext cx="384048" cy="384048"/>
          </a:xfrm>
          <a:prstGeom prst="ellipse">
            <a:avLst/>
          </a:prstGeom>
          <a:solidFill>
            <a:srgbClr val="1F2A2E"/>
          </a:solidFill>
          <a:ln w="12700">
            <a:solidFill>
              <a:srgbClr val="1F2A2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94576" y="4041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Kubernetes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391656" y="4663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Helm chart, Traefik Ingress, kind for local and CI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970264" y="38404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98864" y="4069080"/>
            <a:ext cx="384048" cy="384048"/>
          </a:xfrm>
          <a:prstGeom prst="ellipse">
            <a:avLst/>
          </a:prstGeom>
          <a:solidFill>
            <a:srgbClr val="1F2A2E"/>
          </a:solidFill>
          <a:ln w="12700">
            <a:solidFill>
              <a:srgbClr val="1F2A2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01784" y="4041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Operations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198864" y="4663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Argo CD (GitOps), Prometheus, Grafana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29260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52625F"/>
          </a:solidFill>
          <a:ln w="12700">
            <a:solidFill>
              <a:srgbClr val="526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926080"/>
            <a:ext cx="14630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Browser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560320" y="283464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1F2A2E"/>
          </a:solidFill>
          <a:ln w="12700">
            <a:solidFill>
              <a:srgbClr val="1F2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0" y="2834640"/>
            <a:ext cx="15544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Ingress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Traefik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54880" y="155448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554480"/>
            <a:ext cx="21945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Frontend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Nginx + React, 2 pods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754880" y="411480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21945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Backend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FastAPI, 2 pods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680960" y="4114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4114800"/>
            <a:ext cx="20116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StatefulSet + PVC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80960" y="54864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D6453D"/>
          </a:solidFill>
          <a:ln w="12700">
            <a:solidFill>
              <a:srgbClr val="D645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5486400"/>
            <a:ext cx="20116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Prometheus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scrapes /metrics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058400" y="548640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3D"/>
          </a:solidFill>
          <a:ln w="12700">
            <a:solidFill>
              <a:srgbClr val="D645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0" y="5486400"/>
            <a:ext cx="15544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Grafana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680960" y="155448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1554480"/>
            <a:ext cx="20116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Argo CD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syncs Git to cluster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0058400" y="155448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1F2A2E"/>
          </a:solidFill>
          <a:ln w="12700">
            <a:solidFill>
              <a:srgbClr val="1F2A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0" y="1554480"/>
            <a:ext cx="15544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GitHub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chart + values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011680" y="3337560"/>
            <a:ext cx="54864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4114800" y="2286000"/>
            <a:ext cx="640080" cy="822960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160520" y="2331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/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114800" y="3566160"/>
            <a:ext cx="640080" cy="822960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069080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/api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949440" y="4617720"/>
            <a:ext cx="73152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 flipV="1">
            <a:off x="6766560" y="5120640"/>
            <a:ext cx="1920240" cy="365760"/>
          </a:xfrm>
          <a:prstGeom prst="line">
            <a:avLst/>
          </a:prstGeom>
          <a:noFill/>
          <a:ln w="22225">
            <a:solidFill>
              <a:srgbClr val="D6453D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H="1">
            <a:off x="9692640" y="5870448"/>
            <a:ext cx="365760" cy="914"/>
          </a:xfrm>
          <a:prstGeom prst="line">
            <a:avLst/>
          </a:prstGeom>
          <a:noFill/>
          <a:ln w="22225">
            <a:solidFill>
              <a:srgbClr val="D6453D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9692640" y="2057400"/>
            <a:ext cx="36576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86800" y="2560320"/>
            <a:ext cx="914" cy="1371600"/>
          </a:xfrm>
          <a:prstGeom prst="line">
            <a:avLst/>
          </a:prstGeom>
          <a:noFill/>
          <a:ln w="22225">
            <a:solidFill>
              <a:srgbClr val="E8A317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877824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deploys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137160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browser only calls relative /api paths. The Ingress sends / to the frontend and /api to the backend, so the same build works in Docker Compose, kind and EKS.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Codebase and local run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     API, tests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frontend/    React UI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.github/workflows/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   VPC + EKS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k8s/         namespaces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helm/        the chart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monitoring/  Prom + Grafana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argocd/      GitOps app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463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One command starts all three services: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docker compose up --build</a:t>
            </a:r>
            <a:endParaRPr lang="en-US" sz="1500" dirty="0"/>
          </a:p>
        </p:txBody>
      </p:sp>
      <p:sp>
        <p:nvSpPr>
          <p:cNvPr id="5" name="PLACEHOLDER E03"/>
          <p:cNvSpPr/>
          <p:nvPr/>
        </p:nvSpPr>
        <p:spPr>
          <a:xfrm>
            <a:off x="4754880" y="1371600"/>
            <a:ext cx="3337560" cy="448056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6" name="PLACEHOLDER E03 text"/>
          <p:cNvSpPr txBox="1"/>
          <p:nvPr/>
        </p:nvSpPr>
        <p:spPr>
          <a:xfrm>
            <a:off x="4892040" y="1481328"/>
            <a:ext cx="306324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E03 (instructor-required proof)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GitHub repository main page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folder list, rendered README and the CI badge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7" name="PLACEHOLDER E02"/>
          <p:cNvSpPr/>
          <p:nvPr/>
        </p:nvSpPr>
        <p:spPr>
          <a:xfrm>
            <a:off x="8275320" y="1371600"/>
            <a:ext cx="3337560" cy="448056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8" name="PLACEHOLDER E02 text"/>
          <p:cNvSpPr txBox="1"/>
          <p:nvPr/>
        </p:nvSpPr>
        <p:spPr>
          <a:xfrm>
            <a:off x="8412480" y="1481328"/>
            <a:ext cx="306324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E02 (instructor-required proof)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terminal running docker compose up --build plus docker compose ps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postgres, backend and frontend all healthy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Testing and quality gates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pytest tests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42316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2331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API areas covered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31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tests touching the real DB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conftest.py swaps DATABASE_URL to a temporary SQLite file before the app loads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Covers health, readiness, items CRUD, consume, summary, metrics and migrations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also runs alembic upgrade, downgrade and upgrade on a real PostgreSQL 17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Ruff lint and format check fail the build like a failing test</a:t>
            </a:r>
            <a:endParaRPr lang="en-US" sz="1500" dirty="0"/>
          </a:p>
        </p:txBody>
      </p:sp>
      <p:sp>
        <p:nvSpPr>
          <p:cNvPr id="10" name="PLACEHOLDER E04"/>
          <p:cNvSpPr/>
          <p:nvPr/>
        </p:nvSpPr>
        <p:spPr>
          <a:xfrm>
            <a:off x="6309360" y="1371600"/>
            <a:ext cx="5303520" cy="22402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11" name="PLACEHOLDER E04 text"/>
          <p:cNvSpPr txBox="1"/>
          <p:nvPr/>
        </p:nvSpPr>
        <p:spPr>
          <a:xfrm>
            <a:off x="6446520" y="1481328"/>
            <a:ext cx="502920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E04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output of cd backend &amp;&amp; pytest -v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every test PASSED and the final passed count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12" name="PLACEHOLDER E05"/>
          <p:cNvSpPr/>
          <p:nvPr/>
        </p:nvSpPr>
        <p:spPr>
          <a:xfrm>
            <a:off x="6309360" y="3749040"/>
            <a:ext cx="5303520" cy="22402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13" name="PLACEHOLDER E05 text"/>
          <p:cNvSpPr txBox="1"/>
          <p:nvPr/>
        </p:nvSpPr>
        <p:spPr>
          <a:xfrm>
            <a:off x="6446520" y="3858768"/>
            <a:ext cx="502920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E05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Git commit history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at least 10 meaningful commit messages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CI/CD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6459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Test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pytest, Ruff, Alembic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194560" y="1938528"/>
            <a:ext cx="27432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68880" y="141732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417320"/>
            <a:ext cx="16459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Build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frontend + 2 images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0" y="1938528"/>
            <a:ext cx="27432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389120" y="141732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D6453D"/>
          </a:solidFill>
          <a:ln w="12700">
            <a:solidFill>
              <a:srgbClr val="D645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417320"/>
            <a:ext cx="16459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Scan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Trivy gate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938528"/>
            <a:ext cx="27432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41732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417320"/>
            <a:ext cx="16459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Publish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GHCR :git-sha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955280" y="1938528"/>
            <a:ext cx="27432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229600" y="141732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0" y="1417320"/>
            <a:ext cx="16459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Deploy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kind + Helm + smoke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875520" y="1938528"/>
            <a:ext cx="27432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0149840" y="141732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49840" y="1417320"/>
            <a:ext cx="16459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Promote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 into Git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6974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Runs on every push to main. Each job needs the previous one, so a failed test or a HIGH/CRITICAL CVE stops the image from ever reaching the registry.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297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Images are tagged only with the commit SHA, never latest.</a:t>
            </a:r>
            <a:endParaRPr lang="en-US" sz="1500" dirty="0"/>
          </a:p>
        </p:txBody>
      </p:sp>
      <p:sp>
        <p:nvSpPr>
          <p:cNvPr id="22" name="PLACEHOLDER E06"/>
          <p:cNvSpPr/>
          <p:nvPr/>
        </p:nvSpPr>
        <p:spPr>
          <a:xfrm>
            <a:off x="5029200" y="2697480"/>
            <a:ext cx="6583680" cy="342900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23" name="PLACEHOLDER E06 text"/>
          <p:cNvSpPr txBox="1"/>
          <p:nvPr/>
        </p:nvSpPr>
        <p:spPr>
          <a:xfrm>
            <a:off x="5166360" y="2807208"/>
            <a:ext cx="6309360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8A5D00"/>
                </a:solidFill>
              </a:rPr>
              <a:t>PLACEHOLDER: E06 (instructor-required proof)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Paste: the successful GitHub Actions run on main (graph view)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Must show: all jobs green: backend-test, frontend-build, iac-validate, both image jobs, deploy-kind, gitops-promote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DevSecOps: Trivy and GHCR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trivy image --severity HIGH,CRITICAL --ignore-unfixed --exit-code 1 runs on both images before the push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local scan: 4 HIGH findings in the backend, all inside pip's vendored libraries (urllib3, msgpack)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Fix: pip is removed from the runtime image. Re-scan: 0 HIGH/CRITICAL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GHCR login uses the built-in GITHUB_TOKEN; no personal token is stored</a:t>
            </a:r>
            <a:endParaRPr lang="en-US" sz="1500" dirty="0"/>
          </a:p>
        </p:txBody>
      </p:sp>
      <p:sp>
        <p:nvSpPr>
          <p:cNvPr id="4" name="PLACEHOLDER E07"/>
          <p:cNvSpPr/>
          <p:nvPr/>
        </p:nvSpPr>
        <p:spPr>
          <a:xfrm>
            <a:off x="5577840" y="1371600"/>
            <a:ext cx="6035040" cy="22402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5" name="PLACEHOLDER E07 text"/>
          <p:cNvSpPr txBox="1"/>
          <p:nvPr/>
        </p:nvSpPr>
        <p:spPr>
          <a:xfrm>
            <a:off x="5715000" y="1481328"/>
            <a:ext cx="576072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E07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Trivy step output for both images from the pipeline run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the scanned image name with SHA and the findings table or a clean result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6" name="PLACEHOLDER E08"/>
          <p:cNvSpPr/>
          <p:nvPr/>
        </p:nvSpPr>
        <p:spPr>
          <a:xfrm>
            <a:off x="5577840" y="3749040"/>
            <a:ext cx="6035040" cy="22402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7" name="PLACEHOLDER E08 text"/>
          <p:cNvSpPr txBox="1"/>
          <p:nvPr/>
        </p:nvSpPr>
        <p:spPr>
          <a:xfrm>
            <a:off x="5715000" y="3858768"/>
            <a:ext cx="576072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E08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GHCR packages page for shelflife-backend and shelflife-frontend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a tag equal to the commit SHA and no latest tag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Infrastructure as code on AWS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937760" cy="3840480"/>
          </a:xfrm>
          <a:prstGeom prst="roundRect">
            <a:avLst>
              <a:gd name="adj" fmla="val 2381"/>
            </a:avLst>
          </a:prstGeom>
          <a:solidFill>
            <a:srgbClr val="EEF4F2"/>
          </a:solidFill>
          <a:ln w="19050">
            <a:solidFill>
              <a:srgbClr val="3D6E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VPC 10.42.0.0/16  (ap-south-1)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210312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 subnet 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AZ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54680" y="196596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54680" y="1965960"/>
            <a:ext cx="210312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 subnet B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AZ 2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4434840" cy="822960"/>
          </a:xfrm>
          <a:prstGeom prst="roundRect">
            <a:avLst>
              <a:gd name="adj" fmla="val 8889"/>
            </a:avLst>
          </a:prstGeom>
          <a:solidFill>
            <a:srgbClr val="1F2A2E"/>
          </a:solidFill>
          <a:ln w="12700">
            <a:solidFill>
              <a:srgbClr val="1F2A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63240"/>
            <a:ext cx="4434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EKS 1.36 control plane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standard support only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4114800"/>
            <a:ext cx="4434840" cy="822960"/>
          </a:xfrm>
          <a:prstGeom prst="roundRect">
            <a:avLst>
              <a:gd name="adj" fmla="val 888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4434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Managed node group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 x t3.medium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NAT gateway, no control-plane logging, local state. Up only for 1 to 2 days, then terraform destroy.</a:t>
            </a:r>
            <a:endParaRPr lang="en-US" sz="1400" dirty="0"/>
          </a:p>
        </p:txBody>
      </p:sp>
      <p:sp>
        <p:nvSpPr>
          <p:cNvPr id="14" name="PLACEHOLDER E09"/>
          <p:cNvSpPr/>
          <p:nvPr/>
        </p:nvSpPr>
        <p:spPr>
          <a:xfrm>
            <a:off x="5760720" y="1371600"/>
            <a:ext cx="2834640" cy="233172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15" name="PLACEHOLDER E09 text"/>
          <p:cNvSpPr txBox="1"/>
          <p:nvPr/>
        </p:nvSpPr>
        <p:spPr>
          <a:xfrm>
            <a:off x="5897880" y="1481328"/>
            <a:ext cx="2560320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E09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terraform plan output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Plan: N to add, 0 to change, 0 to destroy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16" name="PLACEHOLDER E12"/>
          <p:cNvSpPr/>
          <p:nvPr/>
        </p:nvSpPr>
        <p:spPr>
          <a:xfrm>
            <a:off x="8778240" y="1371600"/>
            <a:ext cx="2834640" cy="233172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17" name="PLACEHOLDER E12 text"/>
          <p:cNvSpPr txBox="1"/>
          <p:nvPr/>
        </p:nvSpPr>
        <p:spPr>
          <a:xfrm>
            <a:off x="8915400" y="1481328"/>
            <a:ext cx="2560320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E12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terraform destroy output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Destroy complete! and the leftover-check script result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18" name="PLACEHOLDER E10 + E11"/>
          <p:cNvSpPr/>
          <p:nvPr/>
        </p:nvSpPr>
        <p:spPr>
          <a:xfrm>
            <a:off x="5760720" y="3886200"/>
            <a:ext cx="5852160" cy="22402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19" name="PLACEHOLDER E10 + E11 text"/>
          <p:cNvSpPr txBox="1"/>
          <p:nvPr/>
        </p:nvSpPr>
        <p:spPr>
          <a:xfrm>
            <a:off x="5897880" y="3995928"/>
            <a:ext cx="557784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E10 + E11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AWS Console: VPC with two public subnets, and EKS cluster with node group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names shelflife-vpc / shelflife-eks, status Active, region ap-south-1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Kubernetes and Helm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k8s/namespace.yaml creates the shelflife and shelflife-gitops namespaces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helm upgrade --install deploys 2 backend + 2 frontend pods and PostgreSQL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ClusterIP Services; Ingress routes / to frontend and /api to backend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Probes, non-root, read-only filesystem, PodDisruptionBudgets, helm test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Image tags are required values: the chart refuses to render without a SHA</a:t>
            </a:r>
            <a:endParaRPr lang="en-US" sz="1500" dirty="0"/>
          </a:p>
        </p:txBody>
      </p:sp>
      <p:sp>
        <p:nvSpPr>
          <p:cNvPr id="4" name="PLACEHOLDER E13 + E14 + E15"/>
          <p:cNvSpPr/>
          <p:nvPr/>
        </p:nvSpPr>
        <p:spPr>
          <a:xfrm>
            <a:off x="5394960" y="1371600"/>
            <a:ext cx="6217920" cy="251460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5" name="PLACEHOLDER E13 + E14 + E15 text"/>
          <p:cNvSpPr txBox="1"/>
          <p:nvPr/>
        </p:nvSpPr>
        <p:spPr>
          <a:xfrm>
            <a:off x="5532120" y="1481328"/>
            <a:ext cx="5943600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8A5D00"/>
                </a:solidFill>
              </a:rPr>
              <a:t>PLACEHOLDER: E13 + E14 + E15 (instructor-required proof)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Paste: kubectl get pods,svc,ingress -n shelflife and helm list -n shelflife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Must show: all pods Running, ClusterIP services, the Ingress host and release status deployed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500" dirty="0"/>
          </a:p>
        </p:txBody>
      </p:sp>
      <p:sp>
        <p:nvSpPr>
          <p:cNvPr id="6" name="PLACEHOLDER E16"/>
          <p:cNvSpPr/>
          <p:nvPr/>
        </p:nvSpPr>
        <p:spPr>
          <a:xfrm>
            <a:off x="5394960" y="4023360"/>
            <a:ext cx="6217920" cy="210312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7" name="PLACEHOLDER E16 text"/>
          <p:cNvSpPr txBox="1"/>
          <p:nvPr/>
        </p:nvSpPr>
        <p:spPr>
          <a:xfrm>
            <a:off x="5532120" y="4133088"/>
            <a:ext cx="59436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E16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the app opened at http://shelflife.localtest.me:8088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the Ingress hostname in the URL bar and the ShelfLife UI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GitOps with Argo CD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1F2A2E"/>
          </a:solidFill>
          <a:ln w="12700">
            <a:solidFill>
              <a:srgbClr val="1F2A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21031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git push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17520" y="14630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7520" y="1463040"/>
            <a:ext cx="21031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CI builds and scans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017520" y="3017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1752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Commit SHA to values-gitops.yaml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D6453D"/>
          </a:solidFill>
          <a:ln w="12700">
            <a:solidFill>
              <a:srgbClr val="D645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2103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Argo CD syncs shelflife-gitops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51760" y="1920240"/>
            <a:ext cx="36576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069080" y="2377440"/>
            <a:ext cx="914" cy="640080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2651760" y="3520440"/>
            <a:ext cx="365760" cy="914"/>
          </a:xfrm>
          <a:prstGeom prst="line">
            <a:avLst/>
          </a:prstGeom>
          <a:noFill/>
          <a:ln w="22225">
            <a:solidFill>
              <a:srgbClr val="1F2A2E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48640" y="43891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Git is the desired state. Automated sync with prune and self-heal: a manual kubectl change is reverted to what Git says.</a:t>
            </a:r>
            <a:endParaRPr lang="en-US" sz="1500" dirty="0"/>
          </a:p>
        </p:txBody>
      </p:sp>
      <p:sp>
        <p:nvSpPr>
          <p:cNvPr id="15" name="PLACEHOLDER E17"/>
          <p:cNvSpPr/>
          <p:nvPr/>
        </p:nvSpPr>
        <p:spPr>
          <a:xfrm>
            <a:off x="5394960" y="1371600"/>
            <a:ext cx="6217920" cy="47548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16" name="PLACEHOLDER E17 text"/>
          <p:cNvSpPr txBox="1"/>
          <p:nvPr/>
        </p:nvSpPr>
        <p:spPr>
          <a:xfrm>
            <a:off x="5532120" y="1481328"/>
            <a:ext cx="594360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8A5D00"/>
                </a:solidFill>
              </a:rPr>
              <a:t>PLACEHOLDER: E17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Paste: Argo CD UI for the shelflife application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Must show: Synced and Healthy status, the resource tree, and the image tag matching the latest commit SHA</a:t>
            </a: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Observability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Backend /metrics: request count, latency histogram, status class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Business metrics: items added, used, removed, and items by status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ServiceMonitor tells Prometheus to scrape both backend pods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ShelfLife API dashboard is provisioned automatically in Grafana</a:t>
            </a:r>
            <a:endParaRPr lang="en-US" sz="1500" dirty="0"/>
          </a:p>
        </p:txBody>
      </p:sp>
      <p:sp>
        <p:nvSpPr>
          <p:cNvPr id="4" name="PLACEHOLDER E18"/>
          <p:cNvSpPr/>
          <p:nvPr/>
        </p:nvSpPr>
        <p:spPr>
          <a:xfrm>
            <a:off x="548640" y="4663440"/>
            <a:ext cx="3931920" cy="146304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5" name="PLACEHOLDER E18 text"/>
          <p:cNvSpPr txBox="1"/>
          <p:nvPr/>
        </p:nvSpPr>
        <p:spPr>
          <a:xfrm>
            <a:off x="685800" y="4773168"/>
            <a:ext cx="3657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E18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curl of the backend /metrics endpoint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http_requests_total and shelflife_ metrics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6" name="PLACEHOLDER E19"/>
          <p:cNvSpPr/>
          <p:nvPr/>
        </p:nvSpPr>
        <p:spPr>
          <a:xfrm>
            <a:off x="4754880" y="1371600"/>
            <a:ext cx="3337560" cy="47548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7" name="PLACEHOLDER E19 text"/>
          <p:cNvSpPr txBox="1"/>
          <p:nvPr/>
        </p:nvSpPr>
        <p:spPr>
          <a:xfrm>
            <a:off x="4892040" y="1481328"/>
            <a:ext cx="306324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E19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Prometheus Status &gt; Targets page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serviceMonitor/shelflife/shelflife-backend with endpoints UP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8" name="PLACEHOLDER E20"/>
          <p:cNvSpPr/>
          <p:nvPr/>
        </p:nvSpPr>
        <p:spPr>
          <a:xfrm>
            <a:off x="8275320" y="1371600"/>
            <a:ext cx="3337560" cy="4754880"/>
          </a:xfrm>
          <a:prstGeom prst="rect">
            <a:avLst/>
          </a:prstGeom>
          <a:solidFill>
            <a:srgbClr val="FDF2D8"/>
          </a:solidFill>
          <a:ln w="25400">
            <a:solidFill>
              <a:srgbClr val="E8A317"/>
            </a:solidFill>
            <a:prstDash val="dash"/>
          </a:ln>
        </p:spPr>
      </p:sp>
      <p:sp>
        <p:nvSpPr>
          <p:cNvPr id="9" name="PLACEHOLDER E20 text"/>
          <p:cNvSpPr txBox="1"/>
          <p:nvPr/>
        </p:nvSpPr>
        <p:spPr>
          <a:xfrm>
            <a:off x="8412480" y="1481328"/>
            <a:ext cx="306324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8A5D00"/>
                </a:solidFill>
              </a:rPr>
              <a:t>PLACEHOLDER: E20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Paste: Grafana ShelfLife API dashboard after generating traffic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Must show: populated panels: requests per second, latency, error ratio</a:t>
            </a:r>
            <a:endParaRPr lang="en-US" sz="13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Checklist: demo/SCREENSHOT_CHECKLIST.md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Alternatives and trade-offs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3464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subnets, no NAT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nodes + NAT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cost for a 1 to 2 day demo; production would use private subnets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in the cluster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RDS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on kind and simple to demo; RDS adds backups and HA at extra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Traefik Ingress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ingress-nginx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ingress-nginx was archived in 2026 and gets no more fixes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 for K8s demos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for everything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cloud cost; EKS is used for the Terraform proof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GITHUB_TOKEN for GHCR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access token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Short-lived, scoped to the run, nothing to leak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Terraform 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backend with locking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person, short-lived; a team needs remote 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Results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0312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at hand-in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5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App + M4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E01, E02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locally with docker compose (update after your run)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 Testing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tests passed locally (show your run)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 Git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E03, E05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Pending: your public repo and commits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CI/CD + M6 Trivy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E06, E07, E08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Pending: your first green pipeline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 Terraform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E09 to E12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Pending: plan, apply, console, destroy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 Kubernetes + Helm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E13 to E16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locally on kind (capture your own)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M9 Observability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E18 to E20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locally on kind (capture your own)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Pending: Argo CD pointed at your repo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Replace the status column with your real results before presenting.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learnings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411480" cy="411480"/>
          </a:xfrm>
          <a:prstGeom prst="ellipse">
            <a:avLst/>
          </a:prstGeom>
          <a:solidFill>
            <a:srgbClr val="2F7D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691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Gates, not just tools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3317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scan only matters when its result can stop a release.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737360"/>
            <a:ext cx="411480" cy="411480"/>
          </a:xfrm>
          <a:prstGeom prst="ellipse">
            <a:avLst/>
          </a:prstGeom>
          <a:solidFill>
            <a:srgbClr val="D645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0" y="1691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Smaller images, fewer CVEs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3317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Removing what the app never uses fixed every HIGH finding.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114800"/>
            <a:ext cx="411480" cy="411480"/>
          </a:xfrm>
          <a:prstGeom prst="ellipse">
            <a:avLst/>
          </a:prstGeom>
          <a:solidFill>
            <a:srgbClr val="3D6E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40690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Cost is a design input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Support policy, NAT and load balancers change the AWS bill more than instance size.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79476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EF4F2"/>
          </a:solidFill>
          <a:ln w="12700">
            <a:solidFill>
              <a:srgbClr val="CAD8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4114800"/>
            <a:ext cx="411480" cy="41148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0" y="40690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Git as the source of truth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With Argo CD, the deployed version is a commit you can read and revert.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004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Questions?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Repository: https://github.com/[your-username]/[your-repo]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Video: demo/shelflife-walkthrough.mp4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elfLife">
  <a:themeElements>
    <a:clrScheme name="ShelfLife">
      <a:dk1>
        <a:srgbClr val="1F2A2E"/>
      </a:dk1>
      <a:lt1>
        <a:srgbClr val="FFFFFF"/>
      </a:lt1>
      <a:dk2>
        <a:srgbClr val="33454A"/>
      </a:dk2>
      <a:lt2>
        <a:srgbClr val="EEF4F2"/>
      </a:lt2>
      <a:accent1>
        <a:srgbClr val="2F7D5B"/>
      </a:accent1>
      <a:accent2>
        <a:srgbClr val="D6453D"/>
      </a:accent2>
      <a:accent3>
        <a:srgbClr val="E8A317"/>
      </a:accent3>
      <a:accent4>
        <a:srgbClr val="3D6E8C"/>
      </a:accent4>
      <a:accent5>
        <a:srgbClr val="8AB6A0"/>
      </a:accent5>
      <a:accent6>
        <a:srgbClr val="52625F"/>
      </a:accent6>
      <a:hlink>
        <a:srgbClr val="2F7D5B"/>
      </a:hlink>
      <a:folHlink>
        <a:srgbClr val="22603F"/>
      </a:folHlink>
    </a:clrScheme>
    <a:fontScheme name="ShelfLif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ShelfLife - DevOps capstone</dc:title>
  <dc:subject>From laptop to monitored Kubernetes</dc:subject>
  <dc:creator>Student name</dc:creator>
  <cp:lastModifiedBy>Student name</cp:lastModifiedBy>
  <cp:revision>1</cp:revision>
  <dcterms:created xsi:type="dcterms:W3CDTF">2026-10-13T21:12:30Z</dcterms:created>
  <dcterms:modified xsi:type="dcterms:W3CDTF">2026-10-13T21:12:30Z</dcterms:modified>
</cp:coreProperties>
</file>