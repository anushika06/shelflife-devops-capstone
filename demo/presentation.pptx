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Poppins Italics" charset="1" panose="00000500000000000000"/>
      <p:regular r:id="rId28"/>
    </p:embeddedFont>
    <p:embeddedFont>
      <p:font typeface="Montserrat Bold" charset="1" panose="00000800000000000000"/>
      <p:regular r:id="rId29"/>
    </p:embeddedFont>
    <p:embeddedFont>
      <p:font typeface="Cambria Bold" charset="1" panose="02040803050406030204"/>
      <p:regular r:id="rId31"/>
    </p:embeddedFont>
    <p:embeddedFont>
      <p:font typeface="Calibri (MS) Italics" charset="1" panose="020F05020202040A0204"/>
      <p:regular r:id="rId32"/>
    </p:embeddedFont>
    <p:embeddedFont>
      <p:font typeface="Calibri (MS)" charset="1" panose="020F0502020204030204"/>
      <p:regular r:id="rId33"/>
    </p:embeddedFont>
    <p:embeddedFont>
      <p:font typeface="Calibri (MS) Bold" charset="1" panose="020F0702030404030204"/>
      <p:regular r:id="rId35"/>
    </p:embeddedFont>
    <p:embeddedFont>
      <p:font typeface="Courier New" charset="1" panose="02070309020205020404"/>
      <p:regular r:id="rId38"/>
    </p:embeddedFont>
    <p:embeddedFont>
      <p:font typeface="Poppins" charset="1" panose="00000500000000000000"/>
      <p:regular r:id="rId5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notesMasters/notesMaster1.xml" Type="http://schemas.openxmlformats.org/officeDocument/2006/relationships/notesMaster"/><Relationship Id="rId26" Target="theme/theme2.xml" Type="http://schemas.openxmlformats.org/officeDocument/2006/relationships/theme"/><Relationship Id="rId27" Target="notesSlides/notesSlide1.xml" Type="http://schemas.openxmlformats.org/officeDocument/2006/relationships/notesSlide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notesSlides/notesSlide2.xml" Type="http://schemas.openxmlformats.org/officeDocument/2006/relationships/notesSlide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notesSlides/notesSlide3.xml" Type="http://schemas.openxmlformats.org/officeDocument/2006/relationships/notesSlide"/><Relationship Id="rId35" Target="fonts/font35.fntdata" Type="http://schemas.openxmlformats.org/officeDocument/2006/relationships/font"/><Relationship Id="rId36" Target="notesSlides/notesSlide4.xml" Type="http://schemas.openxmlformats.org/officeDocument/2006/relationships/notesSlide"/><Relationship Id="rId37" Target="notesSlides/notesSlide5.xml" Type="http://schemas.openxmlformats.org/officeDocument/2006/relationships/notesSlide"/><Relationship Id="rId38" Target="fonts/font38.fntdata" Type="http://schemas.openxmlformats.org/officeDocument/2006/relationships/font"/><Relationship Id="rId39" Target="notesSlides/notesSlide6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7.xml" Type="http://schemas.openxmlformats.org/officeDocument/2006/relationships/notesSlide"/><Relationship Id="rId41" Target="notesSlides/notesSlide8.xml" Type="http://schemas.openxmlformats.org/officeDocument/2006/relationships/notesSlide"/><Relationship Id="rId42" Target="notesSlides/notesSlide9.xml" Type="http://schemas.openxmlformats.org/officeDocument/2006/relationships/notesSlide"/><Relationship Id="rId43" Target="notesSlides/notesSlide10.xml" Type="http://schemas.openxmlformats.org/officeDocument/2006/relationships/notesSlide"/><Relationship Id="rId44" Target="notesSlides/notesSlide11.xml" Type="http://schemas.openxmlformats.org/officeDocument/2006/relationships/notesSlide"/><Relationship Id="rId45" Target="notesSlides/notesSlide12.xml" Type="http://schemas.openxmlformats.org/officeDocument/2006/relationships/notesSlide"/><Relationship Id="rId46" Target="notesSlides/notesSlide13.xml" Type="http://schemas.openxmlformats.org/officeDocument/2006/relationships/notesSlide"/><Relationship Id="rId47" Target="notesSlides/notesSlide14.xml" Type="http://schemas.openxmlformats.org/officeDocument/2006/relationships/notesSlide"/><Relationship Id="rId48" Target="notesSlides/notesSlide15.xml" Type="http://schemas.openxmlformats.org/officeDocument/2006/relationships/notesSlide"/><Relationship Id="rId49" Target="notesSlides/notesSlide16.xml" Type="http://schemas.openxmlformats.org/officeDocument/2006/relationships/notesSlide"/><Relationship Id="rId5" Target="tableStyles.xml" Type="http://schemas.openxmlformats.org/officeDocument/2006/relationships/tableStyles"/><Relationship Id="rId50" Target="notesSlides/notesSlide17.xml" Type="http://schemas.openxmlformats.org/officeDocument/2006/relationships/notesSlide"/><Relationship Id="rId51" Target="notesSlides/notesSlide18.xml" Type="http://schemas.openxmlformats.org/officeDocument/2006/relationships/notesSlide"/><Relationship Id="rId52" Target="notesSlides/notesSlide19.xml" Type="http://schemas.openxmlformats.org/officeDocument/2006/relationships/notesSlide"/><Relationship Id="rId53" Target="fonts/font53.fntdata" Type="http://schemas.openxmlformats.org/officeDocument/2006/relationships/font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Introduce yourself: Anushika Chauhan, Group-A. ShelfLife is a pantry and expiry tracker. The talk covers what was built, the architecture, then each DevOps layer with the real evidence: CI/CD, security scanning, Terraform on AWS, Kubernetes with Helm, GitOps with Argo CD, and Prometheus and Grafana.</a:t>
            </a:r>
          </a:p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Explain the product in plain words for a non-technical viewer. Data entered in the UI goes through the FastAPI backend into PostgreSQL and survives a refresh or restart.</a:t>
            </a:r>
          </a:p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One sentence per tile. Mention that every version is pinned in the repository and that Traefik replaced ingress-nginx because the ingress-nginx project was archived in 2026.</a:t>
            </a:r>
          </a:p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Walk the request path left to right, then the operations side: Prometheus scrapes the backend, Grafana reads Prometheus, Argo CD keeps the cluster equal to what is in Git.</a:t>
            </a:r>
          </a:p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Show the folder structure and explain the design decisions: migrations owned by Alembic and run before the API starts, non-root containers, relative API paths.</a:t>
            </a:r>
          </a:p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Tests are the first gate: if one fails, no image is built or pushed. The screenshot shows pytest -v with all 17 tests passing against the isolated SQLite test database. The commit history shows the project built in phases with conventional commit messages.</a:t>
            </a:r>
          </a:p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Trigger a push live, show the run starting, and narrate the jobs. Point out the needs chain and the SHA tag.</a:t>
            </a:r>
          </a:p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Trivy scanned the OS packages and the Python dependencies inside both images built for commit b728abc. It found no HIGH or CRITICAL vulnerabilities with a fix available, so the gate passed and the images were pushed to GHCR. Unfixed findings are excluded and re-checked on every build. Note: the 'Latest' badge on the GHCR page is GitHub marking the newest version, not a 'latest' tag. The next slide shows the backend scan and the frontend package.</a:t>
            </a:r>
          </a:p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Left: the backend Trivy step from the same pipeline run; every Python package in the virtualenv reports 0 findings. Right: the frontend package in GHCR with the same commit-SHA tags as the backend, so both images of a release are traceable to one commit.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terraform plan created 16 resources in ap-south-1: the VPC, two public subnets, internet gateway, route table, IAM roles, the EKS 1.36 cluster and a managed node group. For the evidence run the node group used 2 x t3.small (the code default is t3.medium). Cost decisions: public subnets instead of a NAT gateway, standard support policy, and terraform destroy immediately after capturing the evidence. If you checked Billing, state the real cost; do not estimate. AWS account IDs are masked in these slides.</a:t>
            </a:r>
          </a:p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Supporting AWS evidence: the apply output with the cluster and subnet outputs, the two public subnets in two availability zones, both EKS worker nodes Ready, and the read-only leftover check after terraform destroy showing no clusters, VPCs, instances, load balancers, volumes or IPs left.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This is the local Kubernetes deployment on kind: 2 backend, 2 frontend and 1 PostgreSQL pod Running, ClusterIP services, the Ingress for shelflife.localtest.me and the Helm release deployed. The app opens through the Ingress on port 8088. The same chart has values-eks.yaml for EKS, but the application evidence here is from kind.</a:t>
            </a:r>
          </a:p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Show the synced application, then demonstrate the GitOps flow: push a change, the pipeline commits the new SHA, Argo CD rolls it out. Optionally scale a deployment by hand and watch self-heal revert it.</a:t>
            </a:r>
          </a:p>
          <a:p>
            <a:r>
              <a:rPr lang="en-US"/>
              <a:t>11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The backend exposes /metrics: request counters and latency plus business metrics such as items by status. A ServiceMonitor tells Prometheus to scrape it; both the Helm release and the Argo CD release show 2/2 endpoints UP. The Grafana dashboard is on the next slide.</a:t>
            </a:r>
          </a:p>
          <a:p>
            <a:r>
              <a:rPr lang="en-US"/>
              <a:t>12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The dashboard is provisioned automatically by the Helm chart. Panels show 2 backend pods up, about 0.2 requests per second, p95 latency near 100 ms, requests by endpoint and pantry items by status. The error-ratio panel shows 'No data' because no 4xx or 5xx responses were recorded in this window. Running scripts/generate-traffic.sh before recording makes every panel move.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Pick two rows and explain them in your own words. These are the questions an examiner is most likely to ask.</a:t>
            </a:r>
          </a:p>
          <a:p>
            <a:r>
              <a:rPr lang="en-US"/>
              <a:t>13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Every row is backed by a screenshot in demo/evidence. Kubernetes, Argo CD and monitoring evidence is from the local kind cluster; AWS evidence shows the VPC, subnets and EKS cluster that were applied and then destroyed.</a:t>
            </a:r>
          </a:p>
          <a:p>
            <a:r>
              <a:rPr lang="en-US"/>
              <a:t>14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Speak to these in your own words; graders value honest reflection.</a:t>
            </a:r>
          </a:p>
          <a:p>
            <a:r>
              <a:rPr lang="en-US"/>
              <a:t>15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Close with the repository link and invite questions.</a:t>
            </a:r>
          </a:p>
          <a:p>
            <a:r>
              <a:rPr lang="en-US"/>
              <a:t>16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3.jpeg" Type="http://schemas.openxmlformats.org/officeDocument/2006/relationships/image"/><Relationship Id="rId4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3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3.jpe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3.jpe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3.jpeg" Type="http://schemas.openxmlformats.org/officeDocument/2006/relationships/image"/><Relationship Id="rId4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3.jpe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3.jpe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3.jpe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3.jpe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Relationship Id="rId6" Target="../media/image20.png" Type="http://schemas.openxmlformats.org/officeDocument/2006/relationships/image"/><Relationship Id="rId7" Target="../media/image2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3.jpeg" Type="http://schemas.openxmlformats.org/officeDocument/2006/relationships/image"/><Relationship Id="rId4" Target="../media/image22.png" Type="http://schemas.openxmlformats.org/officeDocument/2006/relationships/image"/><Relationship Id="rId5" Target="../media/image23.png" Type="http://schemas.openxmlformats.org/officeDocument/2006/relationships/image"/><Relationship Id="rId6" Target="../media/image24.png" Type="http://schemas.openxmlformats.org/officeDocument/2006/relationships/image"/><Relationship Id="rId7" Target="../media/image2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3.jpeg" Type="http://schemas.openxmlformats.org/officeDocument/2006/relationships/image"/><Relationship Id="rId4" Target="../media/image26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3.jpeg" Type="http://schemas.openxmlformats.org/officeDocument/2006/relationships/image"/><Relationship Id="rId4" Target="../media/image27.png" Type="http://schemas.openxmlformats.org/officeDocument/2006/relationships/image"/><Relationship Id="rId5" Target="../media/image28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3.jpeg" Type="http://schemas.openxmlformats.org/officeDocument/2006/relationships/image"/><Relationship Id="rId4" Target="../media/image29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3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3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Relationship Id="rId3" Target="../media/image3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9.xml" Type="http://schemas.openxmlformats.org/officeDocument/2006/relationships/notesSlide"/><Relationship Id="rId3" Target="../media/image3.jpeg" Type="http://schemas.openxmlformats.org/officeDocument/2006/relationships/image"/><Relationship Id="rId4" Target="https://github.com/Anushika06/ShelfLife-Devops-Capstone.git" TargetMode="External" Type="http://schemas.openxmlformats.org/officeDocument/2006/relationships/hyperlink"/><Relationship Id="rId5" Target="../media/image1.png" Type="http://schemas.openxmlformats.org/officeDocument/2006/relationships/image"/><Relationship Id="rId6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2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098315" y="2606314"/>
            <a:ext cx="4160985" cy="5074371"/>
          </a:xfrm>
          <a:custGeom>
            <a:avLst/>
            <a:gdLst/>
            <a:ahLst/>
            <a:cxnLst/>
            <a:rect r="r" b="b" t="t" l="l"/>
            <a:pathLst>
              <a:path h="5074371" w="4160985">
                <a:moveTo>
                  <a:pt x="0" y="0"/>
                </a:moveTo>
                <a:lnTo>
                  <a:pt x="4160985" y="0"/>
                </a:lnTo>
                <a:lnTo>
                  <a:pt x="4160985" y="5074372"/>
                </a:lnTo>
                <a:lnTo>
                  <a:pt x="0" y="50743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20140" y="5417177"/>
            <a:ext cx="10267363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i="true">
                <a:solidFill>
                  <a:srgbClr val="F8ECD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From a laptop to a monitored Kubernetes deployment: a DevSecOps capstone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8829675"/>
            <a:ext cx="1604772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9"/>
              </a:lnSpc>
            </a:pPr>
            <a:r>
              <a:rPr lang="en-US" sz="2899" b="true">
                <a:solidFill>
                  <a:srgbClr val="8AB6A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Submitted By: </a:t>
            </a:r>
            <a:r>
              <a:rPr lang="en-US" sz="2899" b="true">
                <a:solidFill>
                  <a:srgbClr val="8AB6A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Anushika Chauhan  |  Group-A  | Roll Number: 10344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20140" y="3486150"/>
            <a:ext cx="15864840" cy="1657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078"/>
              </a:lnSpc>
            </a:pPr>
            <a:r>
              <a:rPr lang="en-US" sz="10899" b="true">
                <a:solidFill>
                  <a:srgbClr val="EEF4F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ShelfLife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0"/>
            <a:ext cx="16596360" cy="1165860"/>
            <a:chOff x="0" y="0"/>
            <a:chExt cx="22128480" cy="15544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28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7375" r="0" b="-22737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2128480" cy="1564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5400" b="true">
                  <a:solidFill>
                    <a:srgbClr val="1F2A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What ShelfLife does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1099185"/>
            <a:ext cx="15497063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i="true">
                <a:solidFill>
                  <a:srgbClr val="2F7D5B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Food goes off because nobody remembers what is at the back of the fridge.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6413" y="8883015"/>
            <a:ext cx="9704324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4340" indent="-21717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1F2A2E"/>
                </a:solidFill>
                <a:latin typeface="Calibri (MS)"/>
                <a:ea typeface="Calibri (MS)"/>
                <a:cs typeface="Calibri (MS)"/>
                <a:sym typeface="Calibri (MS)"/>
              </a:rPr>
              <a:t>Record each item: where it is stored, how much is left, and its use-by date</a:t>
            </a:r>
          </a:p>
          <a:p>
            <a:pPr algn="l" marL="434340" indent="-21717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1F2A2E"/>
                </a:solidFill>
                <a:latin typeface="Calibri (MS)"/>
                <a:ea typeface="Calibri (MS)"/>
                <a:cs typeface="Calibri (MS)"/>
                <a:sym typeface="Calibri (MS)"/>
              </a:rPr>
              <a:t>The "Use these first" shelf shows expired and soon-to-expire food first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118330" y="9814560"/>
            <a:ext cx="640080" cy="35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52625F"/>
                </a:solidFill>
                <a:latin typeface="Calibri (MS)"/>
                <a:ea typeface="Calibri (MS)"/>
                <a:cs typeface="Calibri (MS)"/>
                <a:sym typeface="Calibri (MS)"/>
              </a:rPr>
              <a:t>2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3783342" y="1980183"/>
            <a:ext cx="11243072" cy="5783203"/>
            <a:chOff x="0" y="0"/>
            <a:chExt cx="11668781" cy="6002179"/>
          </a:xfrm>
        </p:grpSpPr>
        <p:sp>
          <p:nvSpPr>
            <p:cNvPr name="Freeform 9" id="9" descr="E01-app-browser.png"/>
            <p:cNvSpPr/>
            <p:nvPr/>
          </p:nvSpPr>
          <p:spPr>
            <a:xfrm flipH="false" flipV="false" rot="0">
              <a:off x="0" y="0"/>
              <a:ext cx="11668782" cy="6002126"/>
            </a:xfrm>
            <a:custGeom>
              <a:avLst/>
              <a:gdLst/>
              <a:ahLst/>
              <a:cxnLst/>
              <a:rect r="r" b="b" t="t" l="l"/>
              <a:pathLst>
                <a:path h="6002126" w="11668782">
                  <a:moveTo>
                    <a:pt x="163575" y="0"/>
                  </a:moveTo>
                  <a:lnTo>
                    <a:pt x="11505207" y="0"/>
                  </a:lnTo>
                  <a:cubicBezTo>
                    <a:pt x="11548590" y="0"/>
                    <a:pt x="11590196" y="17234"/>
                    <a:pt x="11620871" y="47910"/>
                  </a:cubicBezTo>
                  <a:cubicBezTo>
                    <a:pt x="11651548" y="78586"/>
                    <a:pt x="11668782" y="120192"/>
                    <a:pt x="11668782" y="163575"/>
                  </a:cubicBezTo>
                  <a:lnTo>
                    <a:pt x="11668782" y="5838551"/>
                  </a:lnTo>
                  <a:cubicBezTo>
                    <a:pt x="11668782" y="5928891"/>
                    <a:pt x="11595546" y="6002126"/>
                    <a:pt x="11505207" y="6002126"/>
                  </a:cubicBezTo>
                  <a:lnTo>
                    <a:pt x="163575" y="6002126"/>
                  </a:lnTo>
                  <a:cubicBezTo>
                    <a:pt x="120192" y="6002126"/>
                    <a:pt x="78586" y="5984892"/>
                    <a:pt x="47910" y="5954216"/>
                  </a:cubicBezTo>
                  <a:cubicBezTo>
                    <a:pt x="17234" y="5923540"/>
                    <a:pt x="0" y="5881934"/>
                    <a:pt x="0" y="5838551"/>
                  </a:cubicBezTo>
                  <a:lnTo>
                    <a:pt x="0" y="163575"/>
                  </a:lnTo>
                  <a:cubicBezTo>
                    <a:pt x="0" y="73235"/>
                    <a:pt x="73235" y="0"/>
                    <a:pt x="163575" y="0"/>
                  </a:cubicBezTo>
                  <a:close/>
                </a:path>
              </a:pathLst>
            </a:custGeom>
            <a:blipFill>
              <a:blip r:embed="rId4"/>
              <a:stretch>
                <a:fillRect l="-1091" t="0" r="-1091" b="0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5370403" y="8068186"/>
            <a:ext cx="850392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39"/>
              </a:lnSpc>
            </a:pPr>
            <a:r>
              <a:rPr lang="en-US" sz="1949">
                <a:solidFill>
                  <a:srgbClr val="5B6B70"/>
                </a:solidFill>
                <a:latin typeface="Calibri (MS)"/>
                <a:ea typeface="Calibri (MS)"/>
                <a:cs typeface="Calibri (MS)"/>
                <a:sym typeface="Calibri (MS)"/>
              </a:rPr>
              <a:t>ShelfLife running locally at http://localhost:3000 (Docker Compose)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841021" y="8863965"/>
            <a:ext cx="8446979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57" indent="-259078" lvl="1">
              <a:lnSpc>
                <a:spcPts val="2879"/>
              </a:lnSpc>
              <a:spcBef>
                <a:spcPct val="0"/>
              </a:spcBef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Counts and filters: expired, use within 3 days, running low</a:t>
            </a:r>
          </a:p>
          <a:p>
            <a:pPr algn="l" marL="518157" indent="-259078" lvl="1">
              <a:lnSpc>
                <a:spcPts val="2879"/>
              </a:lnSpc>
              <a:spcBef>
                <a:spcPct val="0"/>
              </a:spcBef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"Use 1" updates the quantity; everything is saved in PostgreSQL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699">
                  <a:solidFill>
                    <a:srgbClr val="52625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ShelfLife DevOps capstone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480060"/>
            <a:ext cx="16596360" cy="1165860"/>
            <a:chOff x="0" y="0"/>
            <a:chExt cx="22128480" cy="15544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7375" r="0" b="-22737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128480" cy="1564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5400" b="true">
                  <a:solidFill>
                    <a:srgbClr val="1F2A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Tech stack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13435" y="2116455"/>
            <a:ext cx="3928110" cy="3310890"/>
            <a:chOff x="0" y="0"/>
            <a:chExt cx="5237480" cy="4414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237480" cy="4414520"/>
            </a:xfrm>
            <a:custGeom>
              <a:avLst/>
              <a:gdLst/>
              <a:ahLst/>
              <a:cxnLst/>
              <a:rect r="r" b="b" t="t" l="l"/>
              <a:pathLst>
                <a:path h="4414520" w="5237480">
                  <a:moveTo>
                    <a:pt x="0" y="183896"/>
                  </a:moveTo>
                  <a:cubicBezTo>
                    <a:pt x="0" y="82296"/>
                    <a:pt x="82296" y="0"/>
                    <a:pt x="183896" y="0"/>
                  </a:cubicBezTo>
                  <a:lnTo>
                    <a:pt x="5053584" y="0"/>
                  </a:lnTo>
                  <a:cubicBezTo>
                    <a:pt x="5155184" y="0"/>
                    <a:pt x="5237480" y="82296"/>
                    <a:pt x="5237480" y="183896"/>
                  </a:cubicBezTo>
                  <a:lnTo>
                    <a:pt x="5237480" y="4230624"/>
                  </a:lnTo>
                  <a:cubicBezTo>
                    <a:pt x="5237480" y="4332224"/>
                    <a:pt x="5155184" y="4414520"/>
                    <a:pt x="5053584" y="4414520"/>
                  </a:cubicBezTo>
                  <a:lnTo>
                    <a:pt x="183896" y="4414520"/>
                  </a:lnTo>
                  <a:cubicBezTo>
                    <a:pt x="82296" y="4414520"/>
                    <a:pt x="0" y="4332224"/>
                    <a:pt x="0" y="4230624"/>
                  </a:cubicBezTo>
                  <a:close/>
                </a:path>
              </a:pathLst>
            </a:custGeom>
            <a:solidFill>
              <a:srgbClr val="EEF4F2"/>
            </a:solidFill>
            <a:ln w="19050" cap="sq">
              <a:solidFill>
                <a:srgbClr val="CAD8D3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156335" y="2459355"/>
            <a:ext cx="595122" cy="595122"/>
            <a:chOff x="0" y="0"/>
            <a:chExt cx="793496" cy="79349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93496" cy="793496"/>
            </a:xfrm>
            <a:custGeom>
              <a:avLst/>
              <a:gdLst/>
              <a:ahLst/>
              <a:cxnLst/>
              <a:rect r="r" b="b" t="t" l="l"/>
              <a:pathLst>
                <a:path h="793496" w="793496">
                  <a:moveTo>
                    <a:pt x="0" y="396748"/>
                  </a:moveTo>
                  <a:cubicBezTo>
                    <a:pt x="0" y="177673"/>
                    <a:pt x="177673" y="0"/>
                    <a:pt x="396748" y="0"/>
                  </a:cubicBezTo>
                  <a:cubicBezTo>
                    <a:pt x="615823" y="0"/>
                    <a:pt x="793496" y="177673"/>
                    <a:pt x="793496" y="396748"/>
                  </a:cubicBezTo>
                  <a:cubicBezTo>
                    <a:pt x="793496" y="615823"/>
                    <a:pt x="615823" y="793496"/>
                    <a:pt x="396748" y="793496"/>
                  </a:cubicBezTo>
                  <a:cubicBezTo>
                    <a:pt x="177673" y="793496"/>
                    <a:pt x="0" y="615823"/>
                    <a:pt x="0" y="396748"/>
                  </a:cubicBezTo>
                  <a:close/>
                </a:path>
              </a:pathLst>
            </a:custGeom>
            <a:solidFill>
              <a:srgbClr val="2F7D5B"/>
            </a:solidFill>
            <a:ln w="19050" cap="sq">
              <a:solidFill>
                <a:srgbClr val="2F7D5B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920240" y="2427732"/>
            <a:ext cx="2674620" cy="685800"/>
            <a:chOff x="0" y="0"/>
            <a:chExt cx="3566160" cy="914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566160" cy="914400"/>
            </a:xfrm>
            <a:custGeom>
              <a:avLst/>
              <a:gdLst/>
              <a:ahLst/>
              <a:cxnLst/>
              <a:rect r="r" b="b" t="t" l="l"/>
              <a:pathLst>
                <a:path h="914400" w="3566160">
                  <a:moveTo>
                    <a:pt x="0" y="0"/>
                  </a:moveTo>
                  <a:lnTo>
                    <a:pt x="3566160" y="0"/>
                  </a:lnTo>
                  <a:lnTo>
                    <a:pt x="35661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991" r="0" b="-2599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356616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F2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Application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165860" y="3312795"/>
            <a:ext cx="3291840" cy="1967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33454A"/>
                </a:solidFill>
                <a:latin typeface="Calibri (MS)"/>
                <a:ea typeface="Calibri (MS)"/>
                <a:cs typeface="Calibri (MS)"/>
                <a:sym typeface="Calibri (MS)"/>
              </a:rPr>
              <a:t>React 19 + Vite, FastAPI, PostgreSQL 17, SQLAlchemy, Alembic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5024247" y="2116455"/>
            <a:ext cx="3928110" cy="3310890"/>
            <a:chOff x="0" y="0"/>
            <a:chExt cx="5237480" cy="4414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237480" cy="4414520"/>
            </a:xfrm>
            <a:custGeom>
              <a:avLst/>
              <a:gdLst/>
              <a:ahLst/>
              <a:cxnLst/>
              <a:rect r="r" b="b" t="t" l="l"/>
              <a:pathLst>
                <a:path h="4414520" w="5237480">
                  <a:moveTo>
                    <a:pt x="0" y="183896"/>
                  </a:moveTo>
                  <a:cubicBezTo>
                    <a:pt x="0" y="82296"/>
                    <a:pt x="82296" y="0"/>
                    <a:pt x="183896" y="0"/>
                  </a:cubicBezTo>
                  <a:lnTo>
                    <a:pt x="5053584" y="0"/>
                  </a:lnTo>
                  <a:cubicBezTo>
                    <a:pt x="5155184" y="0"/>
                    <a:pt x="5237480" y="82296"/>
                    <a:pt x="5237480" y="183896"/>
                  </a:cubicBezTo>
                  <a:lnTo>
                    <a:pt x="5237480" y="4230624"/>
                  </a:lnTo>
                  <a:cubicBezTo>
                    <a:pt x="5237480" y="4332224"/>
                    <a:pt x="5155184" y="4414520"/>
                    <a:pt x="5053584" y="4414520"/>
                  </a:cubicBezTo>
                  <a:lnTo>
                    <a:pt x="183896" y="4414520"/>
                  </a:lnTo>
                  <a:cubicBezTo>
                    <a:pt x="82296" y="4414520"/>
                    <a:pt x="0" y="4332224"/>
                    <a:pt x="0" y="4230624"/>
                  </a:cubicBezTo>
                  <a:close/>
                </a:path>
              </a:pathLst>
            </a:custGeom>
            <a:solidFill>
              <a:srgbClr val="EEF4F2"/>
            </a:solidFill>
            <a:ln w="19050" cap="sq">
              <a:solidFill>
                <a:srgbClr val="CAD8D3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5367147" y="2459355"/>
            <a:ext cx="595122" cy="595122"/>
            <a:chOff x="0" y="0"/>
            <a:chExt cx="793496" cy="79349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93496" cy="793496"/>
            </a:xfrm>
            <a:custGeom>
              <a:avLst/>
              <a:gdLst/>
              <a:ahLst/>
              <a:cxnLst/>
              <a:rect r="r" b="b" t="t" l="l"/>
              <a:pathLst>
                <a:path h="793496" w="793496">
                  <a:moveTo>
                    <a:pt x="0" y="396748"/>
                  </a:moveTo>
                  <a:cubicBezTo>
                    <a:pt x="0" y="177673"/>
                    <a:pt x="177673" y="0"/>
                    <a:pt x="396748" y="0"/>
                  </a:cubicBezTo>
                  <a:cubicBezTo>
                    <a:pt x="615823" y="0"/>
                    <a:pt x="793496" y="177673"/>
                    <a:pt x="793496" y="396748"/>
                  </a:cubicBezTo>
                  <a:cubicBezTo>
                    <a:pt x="793496" y="615823"/>
                    <a:pt x="615823" y="793496"/>
                    <a:pt x="396748" y="793496"/>
                  </a:cubicBezTo>
                  <a:cubicBezTo>
                    <a:pt x="177673" y="793496"/>
                    <a:pt x="0" y="615823"/>
                    <a:pt x="0" y="396748"/>
                  </a:cubicBezTo>
                  <a:close/>
                </a:path>
              </a:pathLst>
            </a:custGeom>
            <a:solidFill>
              <a:srgbClr val="2F7D5B"/>
            </a:solidFill>
            <a:ln w="19050" cap="sq">
              <a:solidFill>
                <a:srgbClr val="2F7D5B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6131052" y="2427732"/>
            <a:ext cx="2674620" cy="685800"/>
            <a:chOff x="0" y="0"/>
            <a:chExt cx="3566160" cy="914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566160" cy="914400"/>
            </a:xfrm>
            <a:custGeom>
              <a:avLst/>
              <a:gdLst/>
              <a:ahLst/>
              <a:cxnLst/>
              <a:rect r="r" b="b" t="t" l="l"/>
              <a:pathLst>
                <a:path h="914400" w="3566160">
                  <a:moveTo>
                    <a:pt x="0" y="0"/>
                  </a:moveTo>
                  <a:lnTo>
                    <a:pt x="3566160" y="0"/>
                  </a:lnTo>
                  <a:lnTo>
                    <a:pt x="35661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991" r="0" b="-2599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356616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F2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Quality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5376672" y="3312795"/>
            <a:ext cx="3291840" cy="1967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33454A"/>
                </a:solidFill>
                <a:latin typeface="Calibri (MS)"/>
                <a:ea typeface="Calibri (MS)"/>
                <a:cs typeface="Calibri (MS)"/>
                <a:sym typeface="Calibri (MS)"/>
              </a:rPr>
              <a:t>pytest (17 tests), Ruff lint, migration check on Postgres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235059" y="2116455"/>
            <a:ext cx="3928110" cy="3310890"/>
            <a:chOff x="0" y="0"/>
            <a:chExt cx="5237480" cy="44145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237480" cy="4414520"/>
            </a:xfrm>
            <a:custGeom>
              <a:avLst/>
              <a:gdLst/>
              <a:ahLst/>
              <a:cxnLst/>
              <a:rect r="r" b="b" t="t" l="l"/>
              <a:pathLst>
                <a:path h="4414520" w="5237480">
                  <a:moveTo>
                    <a:pt x="0" y="183896"/>
                  </a:moveTo>
                  <a:cubicBezTo>
                    <a:pt x="0" y="82296"/>
                    <a:pt x="82296" y="0"/>
                    <a:pt x="183896" y="0"/>
                  </a:cubicBezTo>
                  <a:lnTo>
                    <a:pt x="5053584" y="0"/>
                  </a:lnTo>
                  <a:cubicBezTo>
                    <a:pt x="5155184" y="0"/>
                    <a:pt x="5237480" y="82296"/>
                    <a:pt x="5237480" y="183896"/>
                  </a:cubicBezTo>
                  <a:lnTo>
                    <a:pt x="5237480" y="4230624"/>
                  </a:lnTo>
                  <a:cubicBezTo>
                    <a:pt x="5237480" y="4332224"/>
                    <a:pt x="5155184" y="4414520"/>
                    <a:pt x="5053584" y="4414520"/>
                  </a:cubicBezTo>
                  <a:lnTo>
                    <a:pt x="183896" y="4414520"/>
                  </a:lnTo>
                  <a:cubicBezTo>
                    <a:pt x="82296" y="4414520"/>
                    <a:pt x="0" y="4332224"/>
                    <a:pt x="0" y="4230624"/>
                  </a:cubicBezTo>
                  <a:close/>
                </a:path>
              </a:pathLst>
            </a:custGeom>
            <a:solidFill>
              <a:srgbClr val="EEF4F2"/>
            </a:solidFill>
            <a:ln w="19050" cap="sq">
              <a:solidFill>
                <a:srgbClr val="CAD8D3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9577959" y="2459355"/>
            <a:ext cx="595122" cy="595122"/>
            <a:chOff x="0" y="0"/>
            <a:chExt cx="793496" cy="79349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93496" cy="793496"/>
            </a:xfrm>
            <a:custGeom>
              <a:avLst/>
              <a:gdLst/>
              <a:ahLst/>
              <a:cxnLst/>
              <a:rect r="r" b="b" t="t" l="l"/>
              <a:pathLst>
                <a:path h="793496" w="793496">
                  <a:moveTo>
                    <a:pt x="0" y="396748"/>
                  </a:moveTo>
                  <a:cubicBezTo>
                    <a:pt x="0" y="177673"/>
                    <a:pt x="177673" y="0"/>
                    <a:pt x="396748" y="0"/>
                  </a:cubicBezTo>
                  <a:cubicBezTo>
                    <a:pt x="615823" y="0"/>
                    <a:pt x="793496" y="177673"/>
                    <a:pt x="793496" y="396748"/>
                  </a:cubicBezTo>
                  <a:cubicBezTo>
                    <a:pt x="793496" y="615823"/>
                    <a:pt x="615823" y="793496"/>
                    <a:pt x="396748" y="793496"/>
                  </a:cubicBezTo>
                  <a:cubicBezTo>
                    <a:pt x="177673" y="793496"/>
                    <a:pt x="0" y="615823"/>
                    <a:pt x="0" y="396748"/>
                  </a:cubicBezTo>
                  <a:close/>
                </a:path>
              </a:pathLst>
            </a:custGeom>
            <a:solidFill>
              <a:srgbClr val="3D6E8C"/>
            </a:solidFill>
            <a:ln w="19050" cap="sq">
              <a:solidFill>
                <a:srgbClr val="3D6E8C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0341864" y="2427732"/>
            <a:ext cx="2674620" cy="685800"/>
            <a:chOff x="0" y="0"/>
            <a:chExt cx="3566160" cy="9144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566160" cy="914400"/>
            </a:xfrm>
            <a:custGeom>
              <a:avLst/>
              <a:gdLst/>
              <a:ahLst/>
              <a:cxnLst/>
              <a:rect r="r" b="b" t="t" l="l"/>
              <a:pathLst>
                <a:path h="914400" w="3566160">
                  <a:moveTo>
                    <a:pt x="0" y="0"/>
                  </a:moveTo>
                  <a:lnTo>
                    <a:pt x="3566160" y="0"/>
                  </a:lnTo>
                  <a:lnTo>
                    <a:pt x="35661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991" r="0" b="-25991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57150"/>
              <a:ext cx="356616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F2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Containers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9587484" y="3312795"/>
            <a:ext cx="3291840" cy="1967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33454A"/>
                </a:solidFill>
                <a:latin typeface="Calibri (MS)"/>
                <a:ea typeface="Calibri (MS)"/>
                <a:cs typeface="Calibri (MS)"/>
                <a:sym typeface="Calibri (MS)"/>
              </a:rPr>
              <a:t>Multi-stage Dockerfiles, non-root users, Docker Compose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3445871" y="2116455"/>
            <a:ext cx="3928110" cy="3310890"/>
            <a:chOff x="0" y="0"/>
            <a:chExt cx="5237480" cy="44145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237480" cy="4414520"/>
            </a:xfrm>
            <a:custGeom>
              <a:avLst/>
              <a:gdLst/>
              <a:ahLst/>
              <a:cxnLst/>
              <a:rect r="r" b="b" t="t" l="l"/>
              <a:pathLst>
                <a:path h="4414520" w="5237480">
                  <a:moveTo>
                    <a:pt x="0" y="183896"/>
                  </a:moveTo>
                  <a:cubicBezTo>
                    <a:pt x="0" y="82296"/>
                    <a:pt x="82296" y="0"/>
                    <a:pt x="183896" y="0"/>
                  </a:cubicBezTo>
                  <a:lnTo>
                    <a:pt x="5053584" y="0"/>
                  </a:lnTo>
                  <a:cubicBezTo>
                    <a:pt x="5155184" y="0"/>
                    <a:pt x="5237480" y="82296"/>
                    <a:pt x="5237480" y="183896"/>
                  </a:cubicBezTo>
                  <a:lnTo>
                    <a:pt x="5237480" y="4230624"/>
                  </a:lnTo>
                  <a:cubicBezTo>
                    <a:pt x="5237480" y="4332224"/>
                    <a:pt x="5155184" y="4414520"/>
                    <a:pt x="5053584" y="4414520"/>
                  </a:cubicBezTo>
                  <a:lnTo>
                    <a:pt x="183896" y="4414520"/>
                  </a:lnTo>
                  <a:cubicBezTo>
                    <a:pt x="82296" y="4414520"/>
                    <a:pt x="0" y="4332224"/>
                    <a:pt x="0" y="4230624"/>
                  </a:cubicBezTo>
                  <a:close/>
                </a:path>
              </a:pathLst>
            </a:custGeom>
            <a:solidFill>
              <a:srgbClr val="EEF4F2"/>
            </a:solidFill>
            <a:ln w="19050" cap="sq">
              <a:solidFill>
                <a:srgbClr val="CAD8D3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3788771" y="2459355"/>
            <a:ext cx="595122" cy="595122"/>
            <a:chOff x="0" y="0"/>
            <a:chExt cx="793496" cy="79349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93496" cy="793496"/>
            </a:xfrm>
            <a:custGeom>
              <a:avLst/>
              <a:gdLst/>
              <a:ahLst/>
              <a:cxnLst/>
              <a:rect r="r" b="b" t="t" l="l"/>
              <a:pathLst>
                <a:path h="793496" w="793496">
                  <a:moveTo>
                    <a:pt x="0" y="396748"/>
                  </a:moveTo>
                  <a:cubicBezTo>
                    <a:pt x="0" y="177673"/>
                    <a:pt x="177673" y="0"/>
                    <a:pt x="396748" y="0"/>
                  </a:cubicBezTo>
                  <a:cubicBezTo>
                    <a:pt x="615823" y="0"/>
                    <a:pt x="793496" y="177673"/>
                    <a:pt x="793496" y="396748"/>
                  </a:cubicBezTo>
                  <a:cubicBezTo>
                    <a:pt x="793496" y="615823"/>
                    <a:pt x="615823" y="793496"/>
                    <a:pt x="396748" y="793496"/>
                  </a:cubicBezTo>
                  <a:cubicBezTo>
                    <a:pt x="177673" y="793496"/>
                    <a:pt x="0" y="615823"/>
                    <a:pt x="0" y="396748"/>
                  </a:cubicBezTo>
                  <a:close/>
                </a:path>
              </a:pathLst>
            </a:custGeom>
            <a:solidFill>
              <a:srgbClr val="3D6E8C"/>
            </a:solidFill>
            <a:ln w="19050" cap="sq">
              <a:solidFill>
                <a:srgbClr val="3D6E8C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4552676" y="2427732"/>
            <a:ext cx="2674620" cy="685800"/>
            <a:chOff x="0" y="0"/>
            <a:chExt cx="3566160" cy="9144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566160" cy="914400"/>
            </a:xfrm>
            <a:custGeom>
              <a:avLst/>
              <a:gdLst/>
              <a:ahLst/>
              <a:cxnLst/>
              <a:rect r="r" b="b" t="t" l="l"/>
              <a:pathLst>
                <a:path h="914400" w="3566160">
                  <a:moveTo>
                    <a:pt x="0" y="0"/>
                  </a:moveTo>
                  <a:lnTo>
                    <a:pt x="3566160" y="0"/>
                  </a:lnTo>
                  <a:lnTo>
                    <a:pt x="35661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991" r="0" b="-25991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57150"/>
              <a:ext cx="356616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F2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CI/CD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13798296" y="3312795"/>
            <a:ext cx="3291840" cy="1967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33454A"/>
                </a:solidFill>
                <a:latin typeface="Calibri (MS)"/>
                <a:ea typeface="Calibri (MS)"/>
                <a:cs typeface="Calibri (MS)"/>
                <a:sym typeface="Calibri (MS)"/>
              </a:rPr>
              <a:t>GitHub Actions, GitHub Container Registry, commit-SHA tags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813435" y="5751195"/>
            <a:ext cx="3928110" cy="3310890"/>
            <a:chOff x="0" y="0"/>
            <a:chExt cx="5237480" cy="44145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237480" cy="4414520"/>
            </a:xfrm>
            <a:custGeom>
              <a:avLst/>
              <a:gdLst/>
              <a:ahLst/>
              <a:cxnLst/>
              <a:rect r="r" b="b" t="t" l="l"/>
              <a:pathLst>
                <a:path h="4414520" w="5237480">
                  <a:moveTo>
                    <a:pt x="0" y="183896"/>
                  </a:moveTo>
                  <a:cubicBezTo>
                    <a:pt x="0" y="82296"/>
                    <a:pt x="82296" y="0"/>
                    <a:pt x="183896" y="0"/>
                  </a:cubicBezTo>
                  <a:lnTo>
                    <a:pt x="5053584" y="0"/>
                  </a:lnTo>
                  <a:cubicBezTo>
                    <a:pt x="5155184" y="0"/>
                    <a:pt x="5237480" y="82296"/>
                    <a:pt x="5237480" y="183896"/>
                  </a:cubicBezTo>
                  <a:lnTo>
                    <a:pt x="5237480" y="4230624"/>
                  </a:lnTo>
                  <a:cubicBezTo>
                    <a:pt x="5237480" y="4332224"/>
                    <a:pt x="5155184" y="4414520"/>
                    <a:pt x="5053584" y="4414520"/>
                  </a:cubicBezTo>
                  <a:lnTo>
                    <a:pt x="183896" y="4414520"/>
                  </a:lnTo>
                  <a:cubicBezTo>
                    <a:pt x="82296" y="4414520"/>
                    <a:pt x="0" y="4332224"/>
                    <a:pt x="0" y="4230624"/>
                  </a:cubicBezTo>
                  <a:close/>
                </a:path>
              </a:pathLst>
            </a:custGeom>
            <a:solidFill>
              <a:srgbClr val="EEF4F2"/>
            </a:solidFill>
            <a:ln w="19050" cap="sq">
              <a:solidFill>
                <a:srgbClr val="CAD8D3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156335" y="6094095"/>
            <a:ext cx="595122" cy="595122"/>
            <a:chOff x="0" y="0"/>
            <a:chExt cx="793496" cy="79349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93496" cy="793496"/>
            </a:xfrm>
            <a:custGeom>
              <a:avLst/>
              <a:gdLst/>
              <a:ahLst/>
              <a:cxnLst/>
              <a:rect r="r" b="b" t="t" l="l"/>
              <a:pathLst>
                <a:path h="793496" w="793496">
                  <a:moveTo>
                    <a:pt x="0" y="396748"/>
                  </a:moveTo>
                  <a:cubicBezTo>
                    <a:pt x="0" y="177673"/>
                    <a:pt x="177673" y="0"/>
                    <a:pt x="396748" y="0"/>
                  </a:cubicBezTo>
                  <a:cubicBezTo>
                    <a:pt x="615823" y="0"/>
                    <a:pt x="793496" y="177673"/>
                    <a:pt x="793496" y="396748"/>
                  </a:cubicBezTo>
                  <a:cubicBezTo>
                    <a:pt x="793496" y="615823"/>
                    <a:pt x="615823" y="793496"/>
                    <a:pt x="396748" y="793496"/>
                  </a:cubicBezTo>
                  <a:cubicBezTo>
                    <a:pt x="177673" y="793496"/>
                    <a:pt x="0" y="615823"/>
                    <a:pt x="0" y="396748"/>
                  </a:cubicBezTo>
                  <a:close/>
                </a:path>
              </a:pathLst>
            </a:custGeom>
            <a:solidFill>
              <a:srgbClr val="D6453D"/>
            </a:solidFill>
            <a:ln w="19050" cap="sq">
              <a:solidFill>
                <a:srgbClr val="D6453D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920240" y="6062472"/>
            <a:ext cx="2674620" cy="685800"/>
            <a:chOff x="0" y="0"/>
            <a:chExt cx="3566160" cy="9144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566160" cy="914400"/>
            </a:xfrm>
            <a:custGeom>
              <a:avLst/>
              <a:gdLst/>
              <a:ahLst/>
              <a:cxnLst/>
              <a:rect r="r" b="b" t="t" l="l"/>
              <a:pathLst>
                <a:path h="914400" w="3566160">
                  <a:moveTo>
                    <a:pt x="0" y="0"/>
                  </a:moveTo>
                  <a:lnTo>
                    <a:pt x="3566160" y="0"/>
                  </a:lnTo>
                  <a:lnTo>
                    <a:pt x="35661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991" r="0" b="-25991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356616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F2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Security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1165860" y="6947535"/>
            <a:ext cx="3291840" cy="1967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33454A"/>
                </a:solidFill>
                <a:latin typeface="Calibri (MS)"/>
                <a:ea typeface="Calibri (MS)"/>
                <a:cs typeface="Calibri (MS)"/>
                <a:sym typeface="Calibri (MS)"/>
              </a:rPr>
              <a:t>Trivy gate on both images (HIGH/CRITICAL fails the build)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5024247" y="5751195"/>
            <a:ext cx="3928110" cy="3310890"/>
            <a:chOff x="0" y="0"/>
            <a:chExt cx="5237480" cy="441452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237480" cy="4414520"/>
            </a:xfrm>
            <a:custGeom>
              <a:avLst/>
              <a:gdLst/>
              <a:ahLst/>
              <a:cxnLst/>
              <a:rect r="r" b="b" t="t" l="l"/>
              <a:pathLst>
                <a:path h="4414520" w="5237480">
                  <a:moveTo>
                    <a:pt x="0" y="183896"/>
                  </a:moveTo>
                  <a:cubicBezTo>
                    <a:pt x="0" y="82296"/>
                    <a:pt x="82296" y="0"/>
                    <a:pt x="183896" y="0"/>
                  </a:cubicBezTo>
                  <a:lnTo>
                    <a:pt x="5053584" y="0"/>
                  </a:lnTo>
                  <a:cubicBezTo>
                    <a:pt x="5155184" y="0"/>
                    <a:pt x="5237480" y="82296"/>
                    <a:pt x="5237480" y="183896"/>
                  </a:cubicBezTo>
                  <a:lnTo>
                    <a:pt x="5237480" y="4230624"/>
                  </a:lnTo>
                  <a:cubicBezTo>
                    <a:pt x="5237480" y="4332224"/>
                    <a:pt x="5155184" y="4414520"/>
                    <a:pt x="5053584" y="4414520"/>
                  </a:cubicBezTo>
                  <a:lnTo>
                    <a:pt x="183896" y="4414520"/>
                  </a:lnTo>
                  <a:cubicBezTo>
                    <a:pt x="82296" y="4414520"/>
                    <a:pt x="0" y="4332224"/>
                    <a:pt x="0" y="4230624"/>
                  </a:cubicBezTo>
                  <a:close/>
                </a:path>
              </a:pathLst>
            </a:custGeom>
            <a:solidFill>
              <a:srgbClr val="EEF4F2"/>
            </a:solidFill>
            <a:ln w="19050" cap="sq">
              <a:solidFill>
                <a:srgbClr val="CAD8D3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5367147" y="6094095"/>
            <a:ext cx="595122" cy="595122"/>
            <a:chOff x="0" y="0"/>
            <a:chExt cx="793496" cy="79349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93496" cy="793496"/>
            </a:xfrm>
            <a:custGeom>
              <a:avLst/>
              <a:gdLst/>
              <a:ahLst/>
              <a:cxnLst/>
              <a:rect r="r" b="b" t="t" l="l"/>
              <a:pathLst>
                <a:path h="793496" w="793496">
                  <a:moveTo>
                    <a:pt x="0" y="396748"/>
                  </a:moveTo>
                  <a:cubicBezTo>
                    <a:pt x="0" y="177673"/>
                    <a:pt x="177673" y="0"/>
                    <a:pt x="396748" y="0"/>
                  </a:cubicBezTo>
                  <a:cubicBezTo>
                    <a:pt x="615823" y="0"/>
                    <a:pt x="793496" y="177673"/>
                    <a:pt x="793496" y="396748"/>
                  </a:cubicBezTo>
                  <a:cubicBezTo>
                    <a:pt x="793496" y="615823"/>
                    <a:pt x="615823" y="793496"/>
                    <a:pt x="396748" y="793496"/>
                  </a:cubicBezTo>
                  <a:cubicBezTo>
                    <a:pt x="177673" y="793496"/>
                    <a:pt x="0" y="615823"/>
                    <a:pt x="0" y="396748"/>
                  </a:cubicBezTo>
                  <a:close/>
                </a:path>
              </a:pathLst>
            </a:custGeom>
            <a:solidFill>
              <a:srgbClr val="3D6E8C"/>
            </a:solidFill>
            <a:ln w="19050" cap="sq">
              <a:solidFill>
                <a:srgbClr val="3D6E8C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6131052" y="6062472"/>
            <a:ext cx="2674620" cy="685800"/>
            <a:chOff x="0" y="0"/>
            <a:chExt cx="3566160" cy="9144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566160" cy="914400"/>
            </a:xfrm>
            <a:custGeom>
              <a:avLst/>
              <a:gdLst/>
              <a:ahLst/>
              <a:cxnLst/>
              <a:rect r="r" b="b" t="t" l="l"/>
              <a:pathLst>
                <a:path h="914400" w="3566160">
                  <a:moveTo>
                    <a:pt x="0" y="0"/>
                  </a:moveTo>
                  <a:lnTo>
                    <a:pt x="3566160" y="0"/>
                  </a:lnTo>
                  <a:lnTo>
                    <a:pt x="35661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991" r="0" b="-25991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57150"/>
              <a:ext cx="356616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F2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Cloud and IaC</a:t>
              </a:r>
            </a:p>
          </p:txBody>
        </p:sp>
      </p:grpSp>
      <p:sp>
        <p:nvSpPr>
          <p:cNvPr name="TextBox 55" id="55"/>
          <p:cNvSpPr txBox="true"/>
          <p:nvPr/>
        </p:nvSpPr>
        <p:spPr>
          <a:xfrm rot="0">
            <a:off x="5376672" y="6947535"/>
            <a:ext cx="3291840" cy="1967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33454A"/>
                </a:solidFill>
                <a:latin typeface="Calibri (MS)"/>
                <a:ea typeface="Calibri (MS)"/>
                <a:cs typeface="Calibri (MS)"/>
                <a:sym typeface="Calibri (MS)"/>
              </a:rPr>
              <a:t>Terraform, AWS VPC (2 public subnets), EKS 1.36, node group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9235059" y="5751195"/>
            <a:ext cx="3928110" cy="3310890"/>
            <a:chOff x="0" y="0"/>
            <a:chExt cx="5237480" cy="441452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237480" cy="4414520"/>
            </a:xfrm>
            <a:custGeom>
              <a:avLst/>
              <a:gdLst/>
              <a:ahLst/>
              <a:cxnLst/>
              <a:rect r="r" b="b" t="t" l="l"/>
              <a:pathLst>
                <a:path h="4414520" w="5237480">
                  <a:moveTo>
                    <a:pt x="0" y="183896"/>
                  </a:moveTo>
                  <a:cubicBezTo>
                    <a:pt x="0" y="82296"/>
                    <a:pt x="82296" y="0"/>
                    <a:pt x="183896" y="0"/>
                  </a:cubicBezTo>
                  <a:lnTo>
                    <a:pt x="5053584" y="0"/>
                  </a:lnTo>
                  <a:cubicBezTo>
                    <a:pt x="5155184" y="0"/>
                    <a:pt x="5237480" y="82296"/>
                    <a:pt x="5237480" y="183896"/>
                  </a:cubicBezTo>
                  <a:lnTo>
                    <a:pt x="5237480" y="4230624"/>
                  </a:lnTo>
                  <a:cubicBezTo>
                    <a:pt x="5237480" y="4332224"/>
                    <a:pt x="5155184" y="4414520"/>
                    <a:pt x="5053584" y="4414520"/>
                  </a:cubicBezTo>
                  <a:lnTo>
                    <a:pt x="183896" y="4414520"/>
                  </a:lnTo>
                  <a:cubicBezTo>
                    <a:pt x="82296" y="4414520"/>
                    <a:pt x="0" y="4332224"/>
                    <a:pt x="0" y="4230624"/>
                  </a:cubicBezTo>
                  <a:close/>
                </a:path>
              </a:pathLst>
            </a:custGeom>
            <a:solidFill>
              <a:srgbClr val="EEF4F2"/>
            </a:solidFill>
            <a:ln w="19050" cap="sq">
              <a:solidFill>
                <a:srgbClr val="CAD8D3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9577959" y="6094095"/>
            <a:ext cx="595122" cy="595122"/>
            <a:chOff x="0" y="0"/>
            <a:chExt cx="793496" cy="793496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793496" cy="793496"/>
            </a:xfrm>
            <a:custGeom>
              <a:avLst/>
              <a:gdLst/>
              <a:ahLst/>
              <a:cxnLst/>
              <a:rect r="r" b="b" t="t" l="l"/>
              <a:pathLst>
                <a:path h="793496" w="793496">
                  <a:moveTo>
                    <a:pt x="0" y="396748"/>
                  </a:moveTo>
                  <a:cubicBezTo>
                    <a:pt x="0" y="177673"/>
                    <a:pt x="177673" y="0"/>
                    <a:pt x="396748" y="0"/>
                  </a:cubicBezTo>
                  <a:cubicBezTo>
                    <a:pt x="615823" y="0"/>
                    <a:pt x="793496" y="177673"/>
                    <a:pt x="793496" y="396748"/>
                  </a:cubicBezTo>
                  <a:cubicBezTo>
                    <a:pt x="793496" y="615823"/>
                    <a:pt x="615823" y="793496"/>
                    <a:pt x="396748" y="793496"/>
                  </a:cubicBezTo>
                  <a:cubicBezTo>
                    <a:pt x="177673" y="793496"/>
                    <a:pt x="0" y="615823"/>
                    <a:pt x="0" y="396748"/>
                  </a:cubicBezTo>
                  <a:close/>
                </a:path>
              </a:pathLst>
            </a:custGeom>
            <a:solidFill>
              <a:srgbClr val="1F2A2E"/>
            </a:solidFill>
            <a:ln w="19050" cap="sq">
              <a:solidFill>
                <a:srgbClr val="1F2A2E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10341864" y="6062472"/>
            <a:ext cx="2674620" cy="685800"/>
            <a:chOff x="0" y="0"/>
            <a:chExt cx="3566160" cy="9144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566160" cy="914400"/>
            </a:xfrm>
            <a:custGeom>
              <a:avLst/>
              <a:gdLst/>
              <a:ahLst/>
              <a:cxnLst/>
              <a:rect r="r" b="b" t="t" l="l"/>
              <a:pathLst>
                <a:path h="914400" w="3566160">
                  <a:moveTo>
                    <a:pt x="0" y="0"/>
                  </a:moveTo>
                  <a:lnTo>
                    <a:pt x="3566160" y="0"/>
                  </a:lnTo>
                  <a:lnTo>
                    <a:pt x="35661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991" r="0" b="-25991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57150"/>
              <a:ext cx="356616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F2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Kubernetes</a:t>
              </a:r>
            </a:p>
          </p:txBody>
        </p:sp>
      </p:grpSp>
      <p:sp>
        <p:nvSpPr>
          <p:cNvPr name="TextBox 63" id="63"/>
          <p:cNvSpPr txBox="true"/>
          <p:nvPr/>
        </p:nvSpPr>
        <p:spPr>
          <a:xfrm rot="0">
            <a:off x="9587484" y="6947535"/>
            <a:ext cx="3291840" cy="1967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33454A"/>
                </a:solidFill>
                <a:latin typeface="Calibri (MS)"/>
                <a:ea typeface="Calibri (MS)"/>
                <a:cs typeface="Calibri (MS)"/>
                <a:sym typeface="Calibri (MS)"/>
              </a:rPr>
              <a:t>Helm chart, Traefik Ingress, kind for local and CI</a:t>
            </a:r>
          </a:p>
        </p:txBody>
      </p:sp>
      <p:grpSp>
        <p:nvGrpSpPr>
          <p:cNvPr name="Group 64" id="64"/>
          <p:cNvGrpSpPr/>
          <p:nvPr/>
        </p:nvGrpSpPr>
        <p:grpSpPr>
          <a:xfrm rot="0">
            <a:off x="13445871" y="5751195"/>
            <a:ext cx="3928110" cy="3310890"/>
            <a:chOff x="0" y="0"/>
            <a:chExt cx="5237480" cy="441452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5237480" cy="4414520"/>
            </a:xfrm>
            <a:custGeom>
              <a:avLst/>
              <a:gdLst/>
              <a:ahLst/>
              <a:cxnLst/>
              <a:rect r="r" b="b" t="t" l="l"/>
              <a:pathLst>
                <a:path h="4414520" w="5237480">
                  <a:moveTo>
                    <a:pt x="0" y="183896"/>
                  </a:moveTo>
                  <a:cubicBezTo>
                    <a:pt x="0" y="82296"/>
                    <a:pt x="82296" y="0"/>
                    <a:pt x="183896" y="0"/>
                  </a:cubicBezTo>
                  <a:lnTo>
                    <a:pt x="5053584" y="0"/>
                  </a:lnTo>
                  <a:cubicBezTo>
                    <a:pt x="5155184" y="0"/>
                    <a:pt x="5237480" y="82296"/>
                    <a:pt x="5237480" y="183896"/>
                  </a:cubicBezTo>
                  <a:lnTo>
                    <a:pt x="5237480" y="4230624"/>
                  </a:lnTo>
                  <a:cubicBezTo>
                    <a:pt x="5237480" y="4332224"/>
                    <a:pt x="5155184" y="4414520"/>
                    <a:pt x="5053584" y="4414520"/>
                  </a:cubicBezTo>
                  <a:lnTo>
                    <a:pt x="183896" y="4414520"/>
                  </a:lnTo>
                  <a:cubicBezTo>
                    <a:pt x="82296" y="4414520"/>
                    <a:pt x="0" y="4332224"/>
                    <a:pt x="0" y="4230624"/>
                  </a:cubicBezTo>
                  <a:close/>
                </a:path>
              </a:pathLst>
            </a:custGeom>
            <a:solidFill>
              <a:srgbClr val="EEF4F2"/>
            </a:solidFill>
            <a:ln w="19050" cap="sq">
              <a:solidFill>
                <a:srgbClr val="CAD8D3"/>
              </a:solidFill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13788771" y="6094095"/>
            <a:ext cx="595122" cy="595122"/>
            <a:chOff x="0" y="0"/>
            <a:chExt cx="793496" cy="793496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793496" cy="793496"/>
            </a:xfrm>
            <a:custGeom>
              <a:avLst/>
              <a:gdLst/>
              <a:ahLst/>
              <a:cxnLst/>
              <a:rect r="r" b="b" t="t" l="l"/>
              <a:pathLst>
                <a:path h="793496" w="793496">
                  <a:moveTo>
                    <a:pt x="0" y="396748"/>
                  </a:moveTo>
                  <a:cubicBezTo>
                    <a:pt x="0" y="177673"/>
                    <a:pt x="177673" y="0"/>
                    <a:pt x="396748" y="0"/>
                  </a:cubicBezTo>
                  <a:cubicBezTo>
                    <a:pt x="615823" y="0"/>
                    <a:pt x="793496" y="177673"/>
                    <a:pt x="793496" y="396748"/>
                  </a:cubicBezTo>
                  <a:cubicBezTo>
                    <a:pt x="793496" y="615823"/>
                    <a:pt x="615823" y="793496"/>
                    <a:pt x="396748" y="793496"/>
                  </a:cubicBezTo>
                  <a:cubicBezTo>
                    <a:pt x="177673" y="793496"/>
                    <a:pt x="0" y="615823"/>
                    <a:pt x="0" y="396748"/>
                  </a:cubicBezTo>
                  <a:close/>
                </a:path>
              </a:pathLst>
            </a:custGeom>
            <a:solidFill>
              <a:srgbClr val="1F2A2E"/>
            </a:solidFill>
            <a:ln w="19050" cap="sq">
              <a:solidFill>
                <a:srgbClr val="1F2A2E"/>
              </a:solidFill>
              <a:prstDash val="solid"/>
              <a:miter/>
            </a:ln>
          </p:spPr>
        </p:sp>
      </p:grpSp>
      <p:grpSp>
        <p:nvGrpSpPr>
          <p:cNvPr name="Group 68" id="68"/>
          <p:cNvGrpSpPr/>
          <p:nvPr/>
        </p:nvGrpSpPr>
        <p:grpSpPr>
          <a:xfrm rot="0">
            <a:off x="14552676" y="6062472"/>
            <a:ext cx="2674620" cy="685800"/>
            <a:chOff x="0" y="0"/>
            <a:chExt cx="3566160" cy="9144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3566160" cy="914400"/>
            </a:xfrm>
            <a:custGeom>
              <a:avLst/>
              <a:gdLst/>
              <a:ahLst/>
              <a:cxnLst/>
              <a:rect r="r" b="b" t="t" l="l"/>
              <a:pathLst>
                <a:path h="914400" w="3566160">
                  <a:moveTo>
                    <a:pt x="0" y="0"/>
                  </a:moveTo>
                  <a:lnTo>
                    <a:pt x="3566160" y="0"/>
                  </a:lnTo>
                  <a:lnTo>
                    <a:pt x="35661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991" r="0" b="-25991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57150"/>
              <a:ext cx="356616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F2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Operations</a:t>
              </a:r>
            </a:p>
          </p:txBody>
        </p:sp>
      </p:grpSp>
      <p:sp>
        <p:nvSpPr>
          <p:cNvPr name="TextBox 71" id="71"/>
          <p:cNvSpPr txBox="true"/>
          <p:nvPr/>
        </p:nvSpPr>
        <p:spPr>
          <a:xfrm rot="0">
            <a:off x="13798296" y="6947535"/>
            <a:ext cx="3291840" cy="1967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33454A"/>
                </a:solidFill>
                <a:latin typeface="Calibri (MS)"/>
                <a:ea typeface="Calibri (MS)"/>
                <a:cs typeface="Calibri (MS)"/>
                <a:sym typeface="Calibri (MS)"/>
              </a:rPr>
              <a:t>Argo CD (GitOps), Prometheus, Grafana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6824960" y="9608820"/>
            <a:ext cx="640080" cy="35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52625F"/>
                </a:solidFill>
                <a:latin typeface="Calibri (MS)"/>
                <a:ea typeface="Calibri (MS)"/>
                <a:cs typeface="Calibri (MS)"/>
                <a:sym typeface="Calibri (MS)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699">
                  <a:solidFill>
                    <a:srgbClr val="52625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ShelfLife DevOps capstone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480060"/>
            <a:ext cx="16596360" cy="1165860"/>
            <a:chOff x="0" y="0"/>
            <a:chExt cx="22128480" cy="15544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7375" r="0" b="-22737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128480" cy="1564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5400" b="true">
                  <a:solidFill>
                    <a:srgbClr val="1F2A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Architecture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13435" y="4379595"/>
            <a:ext cx="2213610" cy="1253490"/>
            <a:chOff x="0" y="0"/>
            <a:chExt cx="2951480" cy="16713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951480" cy="1671320"/>
            </a:xfrm>
            <a:custGeom>
              <a:avLst/>
              <a:gdLst/>
              <a:ahLst/>
              <a:cxnLst/>
              <a:rect r="r" b="b" t="t" l="l"/>
              <a:pathLst>
                <a:path h="1671320" w="2951480">
                  <a:moveTo>
                    <a:pt x="0" y="148590"/>
                  </a:moveTo>
                  <a:cubicBezTo>
                    <a:pt x="0" y="66548"/>
                    <a:pt x="66548" y="0"/>
                    <a:pt x="148590" y="0"/>
                  </a:cubicBezTo>
                  <a:lnTo>
                    <a:pt x="2802890" y="0"/>
                  </a:lnTo>
                  <a:cubicBezTo>
                    <a:pt x="2884932" y="0"/>
                    <a:pt x="2951480" y="66548"/>
                    <a:pt x="2951480" y="148590"/>
                  </a:cubicBezTo>
                  <a:lnTo>
                    <a:pt x="2951480" y="1522730"/>
                  </a:lnTo>
                  <a:cubicBezTo>
                    <a:pt x="2951480" y="1604772"/>
                    <a:pt x="2884932" y="1671320"/>
                    <a:pt x="2802890" y="1671320"/>
                  </a:cubicBezTo>
                  <a:lnTo>
                    <a:pt x="148590" y="1671320"/>
                  </a:lnTo>
                  <a:cubicBezTo>
                    <a:pt x="66548" y="1671320"/>
                    <a:pt x="0" y="1604772"/>
                    <a:pt x="0" y="1522730"/>
                  </a:cubicBezTo>
                  <a:close/>
                </a:path>
              </a:pathLst>
            </a:custGeom>
            <a:solidFill>
              <a:srgbClr val="52625F"/>
            </a:solidFill>
            <a:ln w="19050" cap="sq">
              <a:solidFill>
                <a:srgbClr val="52625F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822960" y="4389120"/>
            <a:ext cx="2194560" cy="1234440"/>
            <a:chOff x="0" y="0"/>
            <a:chExt cx="2926080" cy="16459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9260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170" t="0" r="-22170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2926080" cy="17030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Browser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830955" y="4242435"/>
            <a:ext cx="2350770" cy="1527810"/>
            <a:chOff x="0" y="0"/>
            <a:chExt cx="3134360" cy="20370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134360" cy="2037080"/>
            </a:xfrm>
            <a:custGeom>
              <a:avLst/>
              <a:gdLst/>
              <a:ahLst/>
              <a:cxnLst/>
              <a:rect r="r" b="b" t="t" l="l"/>
              <a:pathLst>
                <a:path h="2037080" w="3134360">
                  <a:moveTo>
                    <a:pt x="0" y="148209"/>
                  </a:moveTo>
                  <a:cubicBezTo>
                    <a:pt x="0" y="66294"/>
                    <a:pt x="66294" y="0"/>
                    <a:pt x="148209" y="0"/>
                  </a:cubicBezTo>
                  <a:lnTo>
                    <a:pt x="2986151" y="0"/>
                  </a:lnTo>
                  <a:cubicBezTo>
                    <a:pt x="3067939" y="0"/>
                    <a:pt x="3134360" y="66294"/>
                    <a:pt x="3134360" y="148209"/>
                  </a:cubicBezTo>
                  <a:lnTo>
                    <a:pt x="3134360" y="1888871"/>
                  </a:lnTo>
                  <a:cubicBezTo>
                    <a:pt x="3134360" y="1970659"/>
                    <a:pt x="3068066" y="2037080"/>
                    <a:pt x="2986151" y="2037080"/>
                  </a:cubicBezTo>
                  <a:lnTo>
                    <a:pt x="148209" y="2037080"/>
                  </a:lnTo>
                  <a:cubicBezTo>
                    <a:pt x="66294" y="2037080"/>
                    <a:pt x="0" y="1970786"/>
                    <a:pt x="0" y="1888871"/>
                  </a:cubicBezTo>
                  <a:close/>
                </a:path>
              </a:pathLst>
            </a:custGeom>
            <a:solidFill>
              <a:srgbClr val="1F2A2E"/>
            </a:solidFill>
            <a:ln w="19050" cap="sq">
              <a:solidFill>
                <a:srgbClr val="1F2A2E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3840480" y="4251960"/>
            <a:ext cx="2331720" cy="1508760"/>
            <a:chOff x="0" y="0"/>
            <a:chExt cx="3108960" cy="20116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108960" cy="2011680"/>
            </a:xfrm>
            <a:custGeom>
              <a:avLst/>
              <a:gdLst/>
              <a:ahLst/>
              <a:cxnLst/>
              <a:rect r="r" b="b" t="t" l="l"/>
              <a:pathLst>
                <a:path h="2011680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3019" t="0" r="-33019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3108960" cy="20688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Ingress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Traefik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122795" y="2322195"/>
            <a:ext cx="3310890" cy="1527810"/>
            <a:chOff x="0" y="0"/>
            <a:chExt cx="4414520" cy="20370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414520" cy="2037080"/>
            </a:xfrm>
            <a:custGeom>
              <a:avLst/>
              <a:gdLst/>
              <a:ahLst/>
              <a:cxnLst/>
              <a:rect r="r" b="b" t="t" l="l"/>
              <a:pathLst>
                <a:path h="2037080" w="4414520">
                  <a:moveTo>
                    <a:pt x="0" y="148209"/>
                  </a:moveTo>
                  <a:cubicBezTo>
                    <a:pt x="0" y="66294"/>
                    <a:pt x="66294" y="0"/>
                    <a:pt x="148209" y="0"/>
                  </a:cubicBezTo>
                  <a:lnTo>
                    <a:pt x="4266311" y="0"/>
                  </a:lnTo>
                  <a:cubicBezTo>
                    <a:pt x="4348099" y="0"/>
                    <a:pt x="4414520" y="66294"/>
                    <a:pt x="4414520" y="148209"/>
                  </a:cubicBezTo>
                  <a:lnTo>
                    <a:pt x="4414520" y="1888871"/>
                  </a:lnTo>
                  <a:cubicBezTo>
                    <a:pt x="4414520" y="1970659"/>
                    <a:pt x="4348226" y="2037080"/>
                    <a:pt x="4266311" y="2037080"/>
                  </a:cubicBezTo>
                  <a:lnTo>
                    <a:pt x="148209" y="2037080"/>
                  </a:lnTo>
                  <a:cubicBezTo>
                    <a:pt x="66294" y="2037080"/>
                    <a:pt x="0" y="1970786"/>
                    <a:pt x="0" y="1888871"/>
                  </a:cubicBezTo>
                  <a:close/>
                </a:path>
              </a:pathLst>
            </a:custGeom>
            <a:solidFill>
              <a:srgbClr val="2F7D5B"/>
            </a:solidFill>
            <a:ln w="19050" cap="sq">
              <a:solidFill>
                <a:srgbClr val="2F7D5B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7132320" y="2331720"/>
            <a:ext cx="3291840" cy="1508760"/>
            <a:chOff x="0" y="0"/>
            <a:chExt cx="4389120" cy="20116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389120" cy="2011680"/>
            </a:xfrm>
            <a:custGeom>
              <a:avLst/>
              <a:gdLst/>
              <a:ahLst/>
              <a:cxnLst/>
              <a:rect r="r" b="b" t="t" l="l"/>
              <a:pathLst>
                <a:path h="201168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805" t="0" r="-8805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4389120" cy="20688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Frontend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Nginx + React, 2 pods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122795" y="6162675"/>
            <a:ext cx="3310890" cy="1527810"/>
            <a:chOff x="0" y="0"/>
            <a:chExt cx="4414520" cy="20370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414520" cy="2037080"/>
            </a:xfrm>
            <a:custGeom>
              <a:avLst/>
              <a:gdLst/>
              <a:ahLst/>
              <a:cxnLst/>
              <a:rect r="r" b="b" t="t" l="l"/>
              <a:pathLst>
                <a:path h="2037080" w="4414520">
                  <a:moveTo>
                    <a:pt x="0" y="148209"/>
                  </a:moveTo>
                  <a:cubicBezTo>
                    <a:pt x="0" y="66294"/>
                    <a:pt x="66294" y="0"/>
                    <a:pt x="148209" y="0"/>
                  </a:cubicBezTo>
                  <a:lnTo>
                    <a:pt x="4266311" y="0"/>
                  </a:lnTo>
                  <a:cubicBezTo>
                    <a:pt x="4348099" y="0"/>
                    <a:pt x="4414520" y="66294"/>
                    <a:pt x="4414520" y="148209"/>
                  </a:cubicBezTo>
                  <a:lnTo>
                    <a:pt x="4414520" y="1888871"/>
                  </a:lnTo>
                  <a:cubicBezTo>
                    <a:pt x="4414520" y="1970659"/>
                    <a:pt x="4348226" y="2037080"/>
                    <a:pt x="4266311" y="2037080"/>
                  </a:cubicBezTo>
                  <a:lnTo>
                    <a:pt x="148209" y="2037080"/>
                  </a:lnTo>
                  <a:cubicBezTo>
                    <a:pt x="66294" y="2037080"/>
                    <a:pt x="0" y="1970786"/>
                    <a:pt x="0" y="1888871"/>
                  </a:cubicBezTo>
                  <a:close/>
                </a:path>
              </a:pathLst>
            </a:custGeom>
            <a:solidFill>
              <a:srgbClr val="2F7D5B"/>
            </a:solidFill>
            <a:ln w="19050" cap="sq">
              <a:solidFill>
                <a:srgbClr val="2F7D5B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7132320" y="6172200"/>
            <a:ext cx="3291840" cy="1508760"/>
            <a:chOff x="0" y="0"/>
            <a:chExt cx="4389120" cy="20116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389120" cy="2011680"/>
            </a:xfrm>
            <a:custGeom>
              <a:avLst/>
              <a:gdLst/>
              <a:ahLst/>
              <a:cxnLst/>
              <a:rect r="r" b="b" t="t" l="l"/>
              <a:pathLst>
                <a:path h="201168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805" t="0" r="-8805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4389120" cy="20688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Backend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FastAPI, 2 pods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1511915" y="6162675"/>
            <a:ext cx="3036570" cy="1527810"/>
            <a:chOff x="0" y="0"/>
            <a:chExt cx="4048760" cy="20370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048760" cy="2037080"/>
            </a:xfrm>
            <a:custGeom>
              <a:avLst/>
              <a:gdLst/>
              <a:ahLst/>
              <a:cxnLst/>
              <a:rect r="r" b="b" t="t" l="l"/>
              <a:pathLst>
                <a:path h="2037080" w="4048760">
                  <a:moveTo>
                    <a:pt x="0" y="148209"/>
                  </a:moveTo>
                  <a:cubicBezTo>
                    <a:pt x="0" y="66294"/>
                    <a:pt x="66294" y="0"/>
                    <a:pt x="148209" y="0"/>
                  </a:cubicBezTo>
                  <a:lnTo>
                    <a:pt x="3900551" y="0"/>
                  </a:lnTo>
                  <a:cubicBezTo>
                    <a:pt x="3982339" y="0"/>
                    <a:pt x="4048760" y="66294"/>
                    <a:pt x="4048760" y="148209"/>
                  </a:cubicBezTo>
                  <a:lnTo>
                    <a:pt x="4048760" y="1888871"/>
                  </a:lnTo>
                  <a:cubicBezTo>
                    <a:pt x="4048760" y="1970659"/>
                    <a:pt x="3982466" y="2037080"/>
                    <a:pt x="3900551" y="2037080"/>
                  </a:cubicBezTo>
                  <a:lnTo>
                    <a:pt x="148209" y="2037080"/>
                  </a:lnTo>
                  <a:cubicBezTo>
                    <a:pt x="66294" y="2037080"/>
                    <a:pt x="0" y="1970786"/>
                    <a:pt x="0" y="1888871"/>
                  </a:cubicBezTo>
                  <a:close/>
                </a:path>
              </a:pathLst>
            </a:custGeom>
            <a:solidFill>
              <a:srgbClr val="3D6E8C"/>
            </a:solidFill>
            <a:ln w="19050" cap="sq">
              <a:solidFill>
                <a:srgbClr val="3D6E8C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1521440" y="6172200"/>
            <a:ext cx="3017520" cy="1508760"/>
            <a:chOff x="0" y="0"/>
            <a:chExt cx="4023360" cy="20116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023360" cy="2011680"/>
            </a:xfrm>
            <a:custGeom>
              <a:avLst/>
              <a:gdLst/>
              <a:ahLst/>
              <a:cxnLst/>
              <a:rect r="r" b="b" t="t" l="l"/>
              <a:pathLst>
                <a:path h="201168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57150"/>
              <a:ext cx="4023360" cy="20688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PostgreSQL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StatefulSet + PVC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1511915" y="8220075"/>
            <a:ext cx="3036570" cy="1184910"/>
            <a:chOff x="0" y="0"/>
            <a:chExt cx="4048760" cy="15798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048760" cy="1579880"/>
            </a:xfrm>
            <a:custGeom>
              <a:avLst/>
              <a:gdLst/>
              <a:ahLst/>
              <a:cxnLst/>
              <a:rect r="r" b="b" t="t" l="l"/>
              <a:pathLst>
                <a:path h="1579880" w="4048760">
                  <a:moveTo>
                    <a:pt x="0" y="148717"/>
                  </a:moveTo>
                  <a:cubicBezTo>
                    <a:pt x="0" y="66548"/>
                    <a:pt x="66548" y="0"/>
                    <a:pt x="148717" y="0"/>
                  </a:cubicBezTo>
                  <a:lnTo>
                    <a:pt x="3900043" y="0"/>
                  </a:lnTo>
                  <a:cubicBezTo>
                    <a:pt x="3982212" y="0"/>
                    <a:pt x="4048760" y="66548"/>
                    <a:pt x="4048760" y="148717"/>
                  </a:cubicBezTo>
                  <a:lnTo>
                    <a:pt x="4048760" y="1431163"/>
                  </a:lnTo>
                  <a:cubicBezTo>
                    <a:pt x="4048760" y="1513332"/>
                    <a:pt x="3982212" y="1579880"/>
                    <a:pt x="3900043" y="1579880"/>
                  </a:cubicBezTo>
                  <a:lnTo>
                    <a:pt x="148717" y="1579880"/>
                  </a:lnTo>
                  <a:cubicBezTo>
                    <a:pt x="66548" y="1579880"/>
                    <a:pt x="0" y="1513332"/>
                    <a:pt x="0" y="1431163"/>
                  </a:cubicBezTo>
                  <a:close/>
                </a:path>
              </a:pathLst>
            </a:custGeom>
            <a:solidFill>
              <a:srgbClr val="D6453D"/>
            </a:solidFill>
            <a:ln w="19050" cap="sq">
              <a:solidFill>
                <a:srgbClr val="D6453D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11521440" y="8229600"/>
            <a:ext cx="3017520" cy="1165860"/>
            <a:chOff x="0" y="0"/>
            <a:chExt cx="4023360" cy="15544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023360" cy="1554480"/>
            </a:xfrm>
            <a:custGeom>
              <a:avLst/>
              <a:gdLst/>
              <a:ahLst/>
              <a:cxnLst/>
              <a:rect r="r" b="b" t="t" l="l"/>
              <a:pathLst>
                <a:path h="155448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1" r="0" b="-431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4023360" cy="16116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Prometheus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scrapes /metrics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5078075" y="8220075"/>
            <a:ext cx="2350770" cy="1184910"/>
            <a:chOff x="0" y="0"/>
            <a:chExt cx="3134360" cy="15798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134360" cy="1579880"/>
            </a:xfrm>
            <a:custGeom>
              <a:avLst/>
              <a:gdLst/>
              <a:ahLst/>
              <a:cxnLst/>
              <a:rect r="r" b="b" t="t" l="l"/>
              <a:pathLst>
                <a:path h="1579880" w="3134360">
                  <a:moveTo>
                    <a:pt x="0" y="148717"/>
                  </a:moveTo>
                  <a:cubicBezTo>
                    <a:pt x="0" y="66548"/>
                    <a:pt x="66548" y="0"/>
                    <a:pt x="148717" y="0"/>
                  </a:cubicBezTo>
                  <a:lnTo>
                    <a:pt x="2985643" y="0"/>
                  </a:lnTo>
                  <a:cubicBezTo>
                    <a:pt x="3067812" y="0"/>
                    <a:pt x="3134360" y="66548"/>
                    <a:pt x="3134360" y="148717"/>
                  </a:cubicBezTo>
                  <a:lnTo>
                    <a:pt x="3134360" y="1431163"/>
                  </a:lnTo>
                  <a:cubicBezTo>
                    <a:pt x="3134360" y="1513332"/>
                    <a:pt x="3067812" y="1579880"/>
                    <a:pt x="2985643" y="1579880"/>
                  </a:cubicBezTo>
                  <a:lnTo>
                    <a:pt x="148717" y="1579880"/>
                  </a:lnTo>
                  <a:cubicBezTo>
                    <a:pt x="66548" y="1579880"/>
                    <a:pt x="0" y="1513332"/>
                    <a:pt x="0" y="1431163"/>
                  </a:cubicBezTo>
                  <a:close/>
                </a:path>
              </a:pathLst>
            </a:custGeom>
            <a:solidFill>
              <a:srgbClr val="D6453D"/>
            </a:solidFill>
            <a:ln w="19050" cap="sq">
              <a:solidFill>
                <a:srgbClr val="D6453D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5087600" y="8229600"/>
            <a:ext cx="2331720" cy="1165860"/>
            <a:chOff x="0" y="0"/>
            <a:chExt cx="3108960" cy="15544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108960" cy="1554480"/>
            </a:xfrm>
            <a:custGeom>
              <a:avLst/>
              <a:gdLst/>
              <a:ahLst/>
              <a:cxnLst/>
              <a:rect r="r" b="b" t="t" l="l"/>
              <a:pathLst>
                <a:path h="1554480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57150"/>
              <a:ext cx="3108960" cy="16116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Grafana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dashboard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1511915" y="2322195"/>
            <a:ext cx="3036570" cy="1527810"/>
            <a:chOff x="0" y="0"/>
            <a:chExt cx="4048760" cy="203708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048760" cy="2037080"/>
            </a:xfrm>
            <a:custGeom>
              <a:avLst/>
              <a:gdLst/>
              <a:ahLst/>
              <a:cxnLst/>
              <a:rect r="r" b="b" t="t" l="l"/>
              <a:pathLst>
                <a:path h="2037080" w="4048760">
                  <a:moveTo>
                    <a:pt x="0" y="148209"/>
                  </a:moveTo>
                  <a:cubicBezTo>
                    <a:pt x="0" y="66294"/>
                    <a:pt x="66294" y="0"/>
                    <a:pt x="148209" y="0"/>
                  </a:cubicBezTo>
                  <a:lnTo>
                    <a:pt x="3900551" y="0"/>
                  </a:lnTo>
                  <a:cubicBezTo>
                    <a:pt x="3982339" y="0"/>
                    <a:pt x="4048760" y="66294"/>
                    <a:pt x="4048760" y="148209"/>
                  </a:cubicBezTo>
                  <a:lnTo>
                    <a:pt x="4048760" y="1888871"/>
                  </a:lnTo>
                  <a:cubicBezTo>
                    <a:pt x="4048760" y="1970659"/>
                    <a:pt x="3982466" y="2037080"/>
                    <a:pt x="3900551" y="2037080"/>
                  </a:cubicBezTo>
                  <a:lnTo>
                    <a:pt x="148209" y="2037080"/>
                  </a:lnTo>
                  <a:cubicBezTo>
                    <a:pt x="66294" y="2037080"/>
                    <a:pt x="0" y="1970786"/>
                    <a:pt x="0" y="1888871"/>
                  </a:cubicBezTo>
                  <a:close/>
                </a:path>
              </a:pathLst>
            </a:custGeom>
            <a:solidFill>
              <a:srgbClr val="E8A317"/>
            </a:solidFill>
            <a:ln w="19050" cap="sq">
              <a:solidFill>
                <a:srgbClr val="E8A317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11521440" y="2331720"/>
            <a:ext cx="3017520" cy="1508760"/>
            <a:chOff x="0" y="0"/>
            <a:chExt cx="4023360" cy="201168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023360" cy="2011680"/>
            </a:xfrm>
            <a:custGeom>
              <a:avLst/>
              <a:gdLst/>
              <a:ahLst/>
              <a:cxnLst/>
              <a:rect r="r" b="b" t="t" l="l"/>
              <a:pathLst>
                <a:path h="201168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57150"/>
              <a:ext cx="4023360" cy="20688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1F2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Argo CD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1F2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syncs Git to cluster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5078075" y="2322195"/>
            <a:ext cx="2350770" cy="1527810"/>
            <a:chOff x="0" y="0"/>
            <a:chExt cx="3134360" cy="203708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134360" cy="2037080"/>
            </a:xfrm>
            <a:custGeom>
              <a:avLst/>
              <a:gdLst/>
              <a:ahLst/>
              <a:cxnLst/>
              <a:rect r="r" b="b" t="t" l="l"/>
              <a:pathLst>
                <a:path h="2037080" w="3134360">
                  <a:moveTo>
                    <a:pt x="0" y="148209"/>
                  </a:moveTo>
                  <a:cubicBezTo>
                    <a:pt x="0" y="66294"/>
                    <a:pt x="66294" y="0"/>
                    <a:pt x="148209" y="0"/>
                  </a:cubicBezTo>
                  <a:lnTo>
                    <a:pt x="2986151" y="0"/>
                  </a:lnTo>
                  <a:cubicBezTo>
                    <a:pt x="3067939" y="0"/>
                    <a:pt x="3134360" y="66294"/>
                    <a:pt x="3134360" y="148209"/>
                  </a:cubicBezTo>
                  <a:lnTo>
                    <a:pt x="3134360" y="1888871"/>
                  </a:lnTo>
                  <a:cubicBezTo>
                    <a:pt x="3134360" y="1970659"/>
                    <a:pt x="3068066" y="2037080"/>
                    <a:pt x="2986151" y="2037080"/>
                  </a:cubicBezTo>
                  <a:lnTo>
                    <a:pt x="148209" y="2037080"/>
                  </a:lnTo>
                  <a:cubicBezTo>
                    <a:pt x="66294" y="2037080"/>
                    <a:pt x="0" y="1970786"/>
                    <a:pt x="0" y="1888871"/>
                  </a:cubicBezTo>
                  <a:close/>
                </a:path>
              </a:pathLst>
            </a:custGeom>
            <a:solidFill>
              <a:srgbClr val="1F2A2E"/>
            </a:solidFill>
            <a:ln w="19050" cap="sq">
              <a:solidFill>
                <a:srgbClr val="1F2A2E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15087600" y="2331720"/>
            <a:ext cx="2331720" cy="1508760"/>
            <a:chOff x="0" y="0"/>
            <a:chExt cx="3108960" cy="20116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108960" cy="2011680"/>
            </a:xfrm>
            <a:custGeom>
              <a:avLst/>
              <a:gdLst/>
              <a:ahLst/>
              <a:cxnLst/>
              <a:rect r="r" b="b" t="t" l="l"/>
              <a:pathLst>
                <a:path h="2011680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3019" t="0" r="-33019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57150"/>
              <a:ext cx="3108960" cy="20688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GitHub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chart + values</a:t>
              </a:r>
            </a:p>
          </p:txBody>
        </p:sp>
      </p:grpSp>
      <p:sp>
        <p:nvSpPr>
          <p:cNvPr name="AutoShape 53" id="53"/>
          <p:cNvSpPr/>
          <p:nvPr/>
        </p:nvSpPr>
        <p:spPr>
          <a:xfrm rot="139260">
            <a:off x="3000499" y="4997501"/>
            <a:ext cx="857002" cy="0"/>
          </a:xfrm>
          <a:prstGeom prst="line">
            <a:avLst/>
          </a:prstGeom>
          <a:ln cap="rnd" w="19050">
            <a:solidFill>
              <a:srgbClr val="1F2A2E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54" id="54"/>
          <p:cNvSpPr/>
          <p:nvPr/>
        </p:nvSpPr>
        <p:spPr>
          <a:xfrm rot="-3115020">
            <a:off x="5846931" y="4036695"/>
            <a:ext cx="1610658" cy="0"/>
          </a:xfrm>
          <a:prstGeom prst="line">
            <a:avLst/>
          </a:prstGeom>
          <a:ln cap="rnd" w="19050">
            <a:solidFill>
              <a:srgbClr val="1F2A2E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55" id="55"/>
          <p:cNvSpPr txBox="true"/>
          <p:nvPr/>
        </p:nvSpPr>
        <p:spPr>
          <a:xfrm rot="0">
            <a:off x="6240780" y="3449955"/>
            <a:ext cx="54864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F2A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/</a:t>
            </a:r>
          </a:p>
        </p:txBody>
      </p:sp>
      <p:sp>
        <p:nvSpPr>
          <p:cNvPr name="AutoShape 56" id="56"/>
          <p:cNvSpPr/>
          <p:nvPr/>
        </p:nvSpPr>
        <p:spPr>
          <a:xfrm rot="3115020">
            <a:off x="5846931" y="5956935"/>
            <a:ext cx="1610658" cy="0"/>
          </a:xfrm>
          <a:prstGeom prst="line">
            <a:avLst/>
          </a:prstGeom>
          <a:ln cap="rnd" w="19050">
            <a:solidFill>
              <a:srgbClr val="1F2A2E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57" id="57"/>
          <p:cNvSpPr txBox="true"/>
          <p:nvPr/>
        </p:nvSpPr>
        <p:spPr>
          <a:xfrm rot="0">
            <a:off x="6103620" y="6055995"/>
            <a:ext cx="82296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F2A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/api</a:t>
            </a:r>
          </a:p>
        </p:txBody>
      </p:sp>
      <p:sp>
        <p:nvSpPr>
          <p:cNvPr name="AutoShape 58" id="58"/>
          <p:cNvSpPr/>
          <p:nvPr/>
        </p:nvSpPr>
        <p:spPr>
          <a:xfrm rot="105480">
            <a:off x="10407225" y="6917741"/>
            <a:ext cx="1131151" cy="0"/>
          </a:xfrm>
          <a:prstGeom prst="line">
            <a:avLst/>
          </a:prstGeom>
          <a:ln cap="rnd" w="19050">
            <a:solidFill>
              <a:srgbClr val="1F2A2E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59" id="59"/>
          <p:cNvSpPr/>
          <p:nvPr/>
        </p:nvSpPr>
        <p:spPr>
          <a:xfrm rot="-10122240">
            <a:off x="10104396" y="7945755"/>
            <a:ext cx="2971248" cy="0"/>
          </a:xfrm>
          <a:prstGeom prst="line">
            <a:avLst/>
          </a:prstGeom>
          <a:ln cap="rnd" w="19050">
            <a:solidFill>
              <a:srgbClr val="D6453D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60" id="60"/>
          <p:cNvSpPr/>
          <p:nvPr/>
        </p:nvSpPr>
        <p:spPr>
          <a:xfrm rot="10595220">
            <a:off x="14521777" y="8796833"/>
            <a:ext cx="583016" cy="0"/>
          </a:xfrm>
          <a:prstGeom prst="line">
            <a:avLst/>
          </a:prstGeom>
          <a:ln cap="rnd" w="19050">
            <a:solidFill>
              <a:srgbClr val="D6453D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61" id="61"/>
          <p:cNvSpPr/>
          <p:nvPr/>
        </p:nvSpPr>
        <p:spPr>
          <a:xfrm rot="10595220">
            <a:off x="14521777" y="3077261"/>
            <a:ext cx="583016" cy="0"/>
          </a:xfrm>
          <a:prstGeom prst="line">
            <a:avLst/>
          </a:prstGeom>
          <a:ln cap="rnd" w="19050">
            <a:solidFill>
              <a:srgbClr val="1F2A2E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62" id="62"/>
          <p:cNvSpPr/>
          <p:nvPr/>
        </p:nvSpPr>
        <p:spPr>
          <a:xfrm rot="5342940">
            <a:off x="11985374" y="4859655"/>
            <a:ext cx="2091023" cy="0"/>
          </a:xfrm>
          <a:prstGeom prst="line">
            <a:avLst/>
          </a:prstGeom>
          <a:ln cap="rnd" w="19050">
            <a:solidFill>
              <a:srgbClr val="E8A317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63" id="63"/>
          <p:cNvSpPr txBox="true"/>
          <p:nvPr/>
        </p:nvSpPr>
        <p:spPr>
          <a:xfrm rot="0">
            <a:off x="13167360" y="4547235"/>
            <a:ext cx="164592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>
                <a:solidFill>
                  <a:srgbClr val="52625F"/>
                </a:solidFill>
                <a:latin typeface="Calibri (MS)"/>
                <a:ea typeface="Calibri (MS)"/>
                <a:cs typeface="Calibri (MS)"/>
                <a:sym typeface="Calibri (MS)"/>
              </a:rPr>
              <a:t>deploys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822960" y="2009775"/>
            <a:ext cx="5760720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33454A"/>
                </a:solidFill>
                <a:latin typeface="Calibri (MS)"/>
                <a:ea typeface="Calibri (MS)"/>
                <a:cs typeface="Calibri (MS)"/>
                <a:sym typeface="Calibri (MS)"/>
              </a:rPr>
              <a:t>The browser only calls relative /api paths. The Ingress sends / to the frontend and /api to the backend, so the same build works in Docker Compose, kind and EKS.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6824960" y="9608820"/>
            <a:ext cx="640080" cy="35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52625F"/>
                </a:solidFill>
                <a:latin typeface="Calibri (MS)"/>
                <a:ea typeface="Calibri (MS)"/>
                <a:cs typeface="Calibri (MS)"/>
                <a:sym typeface="Calibri (MS)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699">
                  <a:solidFill>
                    <a:srgbClr val="52625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ShelfLife DevOps capstone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480060"/>
            <a:ext cx="16596360" cy="1165860"/>
            <a:chOff x="0" y="0"/>
            <a:chExt cx="22128480" cy="15544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7375" r="0" b="-22737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128480" cy="1564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5400" b="true">
                  <a:solidFill>
                    <a:srgbClr val="1F2A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Codebase and local run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822960" y="2047875"/>
            <a:ext cx="6035040" cy="4947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F2A2E"/>
                </a:solidFill>
                <a:latin typeface="Courier New"/>
                <a:ea typeface="Courier New"/>
                <a:cs typeface="Courier New"/>
                <a:sym typeface="Courier New"/>
              </a:rPr>
              <a:t>backend/     API, tests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F2A2E"/>
                </a:solidFill>
                <a:latin typeface="Courier New"/>
                <a:ea typeface="Courier New"/>
                <a:cs typeface="Courier New"/>
                <a:sym typeface="Courier New"/>
              </a:rPr>
              <a:t>frontend/    React UI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F2A2E"/>
                </a:solidFill>
                <a:latin typeface="Courier New"/>
                <a:ea typeface="Courier New"/>
                <a:cs typeface="Courier New"/>
                <a:sym typeface="Courier New"/>
              </a:rPr>
              <a:t>docker-compose.yml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F2A2E"/>
                </a:solidFill>
                <a:latin typeface="Courier New"/>
                <a:ea typeface="Courier New"/>
                <a:cs typeface="Courier New"/>
                <a:sym typeface="Courier New"/>
              </a:rPr>
              <a:t>.github/workflows/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F2A2E"/>
                </a:solidFill>
                <a:latin typeface="Courier New"/>
                <a:ea typeface="Courier New"/>
                <a:cs typeface="Courier New"/>
                <a:sym typeface="Courier New"/>
              </a:rPr>
              <a:t>terraform/   VPC + EKS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F2A2E"/>
                </a:solidFill>
                <a:latin typeface="Courier New"/>
                <a:ea typeface="Courier New"/>
                <a:cs typeface="Courier New"/>
                <a:sym typeface="Courier New"/>
              </a:rPr>
              <a:t>k8s/         namespaces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F2A2E"/>
                </a:solidFill>
                <a:latin typeface="Courier New"/>
                <a:ea typeface="Courier New"/>
                <a:cs typeface="Courier New"/>
                <a:sym typeface="Courier New"/>
              </a:rPr>
              <a:t>helm/        the chart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F2A2E"/>
                </a:solidFill>
                <a:latin typeface="Courier New"/>
                <a:ea typeface="Courier New"/>
                <a:cs typeface="Courier New"/>
                <a:sym typeface="Courier New"/>
              </a:rPr>
              <a:t>monitoring/  Prom + Grafana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F2A2E"/>
                </a:solidFill>
                <a:latin typeface="Courier New"/>
                <a:ea typeface="Courier New"/>
                <a:cs typeface="Courier New"/>
                <a:sym typeface="Courier New"/>
              </a:rPr>
              <a:t>argocd/      GitOps app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22960" y="7212330"/>
            <a:ext cx="5897880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2849" b="true">
                <a:solidFill>
                  <a:srgbClr val="2F7D5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One command starts all three services:</a:t>
            </a:r>
          </a:p>
          <a:p>
            <a:pPr algn="l">
              <a:lnSpc>
                <a:spcPts val="3419"/>
              </a:lnSpc>
            </a:pPr>
            <a:r>
              <a:rPr lang="en-US" sz="2849" b="true">
                <a:solidFill>
                  <a:srgbClr val="2F7D5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docker compose up --build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863060" y="9618345"/>
            <a:ext cx="640080" cy="35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52625F"/>
                </a:solidFill>
                <a:latin typeface="Calibri (MS)"/>
                <a:ea typeface="Calibri (MS)"/>
                <a:cs typeface="Calibri (MS)"/>
                <a:sym typeface="Calibri (MS)"/>
              </a:rPr>
              <a:t>5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8689698" y="253275"/>
            <a:ext cx="8569602" cy="4308154"/>
            <a:chOff x="0" y="0"/>
            <a:chExt cx="8295640" cy="4170426"/>
          </a:xfrm>
        </p:grpSpPr>
        <p:sp>
          <p:nvSpPr>
            <p:cNvPr name="Freeform 12" id="12" descr="E03-github-repo-codebase.png"/>
            <p:cNvSpPr/>
            <p:nvPr/>
          </p:nvSpPr>
          <p:spPr>
            <a:xfrm flipH="false" flipV="false" rot="0">
              <a:off x="0" y="0"/>
              <a:ext cx="8295640" cy="4170426"/>
            </a:xfrm>
            <a:custGeom>
              <a:avLst/>
              <a:gdLst/>
              <a:ahLst/>
              <a:cxnLst/>
              <a:rect r="r" b="b" t="t" l="l"/>
              <a:pathLst>
                <a:path h="4170426" w="8295640">
                  <a:moveTo>
                    <a:pt x="0" y="0"/>
                  </a:moveTo>
                  <a:lnTo>
                    <a:pt x="8295640" y="0"/>
                  </a:lnTo>
                  <a:lnTo>
                    <a:pt x="8295640" y="4170426"/>
                  </a:lnTo>
                  <a:lnTo>
                    <a:pt x="0" y="4170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14" t="0" r="-114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7830999" y="4627818"/>
            <a:ext cx="10287000" cy="467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>
                <a:solidFill>
                  <a:srgbClr val="5B6B70"/>
                </a:solidFill>
                <a:latin typeface="Calibri (MS)"/>
                <a:ea typeface="Calibri (MS)"/>
                <a:cs typeface="Calibri (MS)"/>
                <a:sym typeface="Calibri (MS)"/>
              </a:rPr>
              <a:t>GitHub repository: folders, README and the passing CI badge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8689698" y="5095305"/>
            <a:ext cx="8569602" cy="4551615"/>
            <a:chOff x="0" y="0"/>
            <a:chExt cx="7851915" cy="4170426"/>
          </a:xfrm>
        </p:grpSpPr>
        <p:sp>
          <p:nvSpPr>
            <p:cNvPr name="Freeform 15" id="15" descr="E02-docker-compose-up.png"/>
            <p:cNvSpPr/>
            <p:nvPr/>
          </p:nvSpPr>
          <p:spPr>
            <a:xfrm flipH="false" flipV="false" rot="0">
              <a:off x="0" y="0"/>
              <a:ext cx="7851902" cy="4170426"/>
            </a:xfrm>
            <a:custGeom>
              <a:avLst/>
              <a:gdLst/>
              <a:ahLst/>
              <a:cxnLst/>
              <a:rect r="r" b="b" t="t" l="l"/>
              <a:pathLst>
                <a:path h="4170426" w="7851902">
                  <a:moveTo>
                    <a:pt x="0" y="0"/>
                  </a:moveTo>
                  <a:lnTo>
                    <a:pt x="7851902" y="0"/>
                  </a:lnTo>
                  <a:lnTo>
                    <a:pt x="7851902" y="4170426"/>
                  </a:lnTo>
                  <a:lnTo>
                    <a:pt x="0" y="4170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07" t="0" r="-107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8154497" y="9778365"/>
            <a:ext cx="10287000" cy="467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>
                <a:solidFill>
                  <a:srgbClr val="5B6B70"/>
                </a:solidFill>
                <a:latin typeface="Calibri (MS)"/>
                <a:ea typeface="Calibri (MS)"/>
                <a:cs typeface="Calibri (MS)"/>
                <a:sym typeface="Calibri (MS)"/>
              </a:rPr>
              <a:t>docker compose up --build: postgres, backend and frontend healthy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699">
                  <a:solidFill>
                    <a:srgbClr val="52625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ShelfLife DevOps capstone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75335" y="920115"/>
            <a:ext cx="16596360" cy="1165860"/>
            <a:chOff x="0" y="0"/>
            <a:chExt cx="22128480" cy="15544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7375" r="0" b="-22737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128480" cy="1564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5400" b="true">
                  <a:solidFill>
                    <a:srgbClr val="1F2A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Testing and quality gates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822960" y="2705100"/>
            <a:ext cx="2606040" cy="1390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20"/>
              </a:lnSpc>
            </a:pPr>
            <a:r>
              <a:rPr lang="en-US" sz="8100" b="true">
                <a:solidFill>
                  <a:srgbClr val="2F7D5B"/>
                </a:solidFill>
                <a:latin typeface="Cambria Bold"/>
                <a:ea typeface="Cambria Bold"/>
                <a:cs typeface="Cambria Bold"/>
                <a:sym typeface="Cambria Bold"/>
              </a:rPr>
              <a:t>17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22960" y="4116705"/>
            <a:ext cx="2606040" cy="1007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33454A"/>
                </a:solidFill>
                <a:latin typeface="Calibri (MS)"/>
                <a:ea typeface="Calibri (MS)"/>
                <a:cs typeface="Calibri (MS)"/>
                <a:sym typeface="Calibri (MS)"/>
              </a:rPr>
              <a:t>pytest tests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634740" y="2705100"/>
            <a:ext cx="2606040" cy="1390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20"/>
              </a:lnSpc>
            </a:pPr>
            <a:r>
              <a:rPr lang="en-US" sz="8100" b="true">
                <a:solidFill>
                  <a:srgbClr val="2F7D5B"/>
                </a:solidFill>
                <a:latin typeface="Cambria Bold"/>
                <a:ea typeface="Cambria Bold"/>
                <a:cs typeface="Cambria Bold"/>
                <a:sym typeface="Cambria Bold"/>
              </a:rPr>
              <a:t>5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634740" y="4116705"/>
            <a:ext cx="2606040" cy="1007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33454A"/>
                </a:solidFill>
                <a:latin typeface="Calibri (MS)"/>
                <a:ea typeface="Calibri (MS)"/>
                <a:cs typeface="Calibri (MS)"/>
                <a:sym typeface="Calibri (MS)"/>
              </a:rPr>
              <a:t>API areas covered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446520" y="2705100"/>
            <a:ext cx="2606040" cy="1390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20"/>
              </a:lnSpc>
            </a:pPr>
            <a:r>
              <a:rPr lang="en-US" sz="8100" b="true">
                <a:solidFill>
                  <a:srgbClr val="2F7D5B"/>
                </a:solidFill>
                <a:latin typeface="Cambria Bold"/>
                <a:ea typeface="Cambria Bold"/>
                <a:cs typeface="Cambria Bold"/>
                <a:sym typeface="Cambria Bold"/>
              </a:rPr>
              <a:t>0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446520" y="4116705"/>
            <a:ext cx="2606040" cy="1007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33454A"/>
                </a:solidFill>
                <a:latin typeface="Calibri (MS)"/>
                <a:ea typeface="Calibri (MS)"/>
                <a:cs typeface="Calibri (MS)"/>
                <a:sym typeface="Calibri (MS)"/>
              </a:rPr>
              <a:t>tests touching the real DB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75335" y="5703570"/>
            <a:ext cx="8229600" cy="2457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7194" indent="-203597" lvl="1">
              <a:lnSpc>
                <a:spcPts val="2700"/>
              </a:lnSpc>
              <a:buFont typeface="Arial"/>
              <a:buChar char="•"/>
            </a:pPr>
            <a:r>
              <a:rPr lang="en-US" sz="2250">
                <a:solidFill>
                  <a:srgbClr val="1F2A2E"/>
                </a:solidFill>
                <a:latin typeface="Calibri (MS)"/>
                <a:ea typeface="Calibri (MS)"/>
                <a:cs typeface="Calibri (MS)"/>
                <a:sym typeface="Calibri (MS)"/>
              </a:rPr>
              <a:t>conftest.py swaps DATABASE_URL to a temporary SQLite file before the app loads</a:t>
            </a:r>
          </a:p>
          <a:p>
            <a:pPr algn="l" marL="407194" indent="-203597" lvl="1">
              <a:lnSpc>
                <a:spcPts val="2700"/>
              </a:lnSpc>
              <a:buFont typeface="Arial"/>
              <a:buChar char="•"/>
            </a:pPr>
            <a:r>
              <a:rPr lang="en-US" sz="2250">
                <a:solidFill>
                  <a:srgbClr val="1F2A2E"/>
                </a:solidFill>
                <a:latin typeface="Calibri (MS)"/>
                <a:ea typeface="Calibri (MS)"/>
                <a:cs typeface="Calibri (MS)"/>
                <a:sym typeface="Calibri (MS)"/>
              </a:rPr>
              <a:t>Covers health, readiness, items CRUD, consume, summary, metrics and migrations</a:t>
            </a:r>
          </a:p>
          <a:p>
            <a:pPr algn="l" marL="407194" indent="-203597" lvl="1">
              <a:lnSpc>
                <a:spcPts val="2700"/>
              </a:lnSpc>
              <a:buFont typeface="Arial"/>
              <a:buChar char="•"/>
            </a:pPr>
            <a:r>
              <a:rPr lang="en-US" sz="2250">
                <a:solidFill>
                  <a:srgbClr val="1F2A2E"/>
                </a:solidFill>
                <a:latin typeface="Calibri (MS)"/>
                <a:ea typeface="Calibri (MS)"/>
                <a:cs typeface="Calibri (MS)"/>
                <a:sym typeface="Calibri (MS)"/>
              </a:rPr>
              <a:t>CI also runs alembic upgrade, downgrade and upgrade on a real PostgreSQL 17</a:t>
            </a:r>
          </a:p>
          <a:p>
            <a:pPr algn="l" marL="407194" indent="-203597" lvl="1">
              <a:lnSpc>
                <a:spcPts val="2700"/>
              </a:lnSpc>
              <a:buFont typeface="Arial"/>
              <a:buChar char="•"/>
            </a:pPr>
            <a:r>
              <a:rPr lang="en-US" sz="2250">
                <a:solidFill>
                  <a:srgbClr val="1F2A2E"/>
                </a:solidFill>
                <a:latin typeface="Calibri (MS)"/>
                <a:ea typeface="Calibri (MS)"/>
                <a:cs typeface="Calibri (MS)"/>
                <a:sym typeface="Calibri (MS)"/>
              </a:rPr>
              <a:t>Ruff lint and format check fail the build like a failing test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824960" y="9608820"/>
            <a:ext cx="640080" cy="35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52625F"/>
                </a:solidFill>
                <a:latin typeface="Calibri (MS)"/>
                <a:ea typeface="Calibri (MS)"/>
                <a:cs typeface="Calibri (MS)"/>
                <a:sym typeface="Calibri (MS)"/>
              </a:rPr>
              <a:t>6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893356" y="480060"/>
            <a:ext cx="7096649" cy="4766596"/>
            <a:chOff x="0" y="0"/>
            <a:chExt cx="6481331" cy="4353306"/>
          </a:xfrm>
        </p:grpSpPr>
        <p:sp>
          <p:nvSpPr>
            <p:cNvPr name="Freeform 17" id="17" descr="E04-pytest.png"/>
            <p:cNvSpPr/>
            <p:nvPr/>
          </p:nvSpPr>
          <p:spPr>
            <a:xfrm flipH="false" flipV="false" rot="0">
              <a:off x="0" y="0"/>
              <a:ext cx="6481318" cy="4353306"/>
            </a:xfrm>
            <a:custGeom>
              <a:avLst/>
              <a:gdLst/>
              <a:ahLst/>
              <a:cxnLst/>
              <a:rect r="r" b="b" t="t" l="l"/>
              <a:pathLst>
                <a:path h="4353306" w="6481318">
                  <a:moveTo>
                    <a:pt x="0" y="0"/>
                  </a:moveTo>
                  <a:lnTo>
                    <a:pt x="6481318" y="0"/>
                  </a:lnTo>
                  <a:lnTo>
                    <a:pt x="6481318" y="4353306"/>
                  </a:lnTo>
                  <a:lnTo>
                    <a:pt x="0" y="43533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2" t="0" r="-72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9464040" y="5293233"/>
            <a:ext cx="7955280" cy="467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>
                <a:solidFill>
                  <a:srgbClr val="5B6B70"/>
                </a:solidFill>
                <a:latin typeface="Calibri (MS)"/>
                <a:ea typeface="Calibri (MS)"/>
                <a:cs typeface="Calibri (MS)"/>
                <a:sym typeface="Calibri (MS)"/>
              </a:rPr>
              <a:t>pytest -v: 17 passed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464040" y="6354939"/>
            <a:ext cx="8025359" cy="2478306"/>
            <a:chOff x="0" y="0"/>
            <a:chExt cx="9225974" cy="2849067"/>
          </a:xfrm>
        </p:grpSpPr>
        <p:sp>
          <p:nvSpPr>
            <p:cNvPr name="Freeform 20" id="20" descr="E05-commit-history.png"/>
            <p:cNvSpPr/>
            <p:nvPr/>
          </p:nvSpPr>
          <p:spPr>
            <a:xfrm flipH="false" flipV="false" rot="0">
              <a:off x="0" y="0"/>
              <a:ext cx="9225974" cy="2849118"/>
            </a:xfrm>
            <a:custGeom>
              <a:avLst/>
              <a:gdLst/>
              <a:ahLst/>
              <a:cxnLst/>
              <a:rect r="r" b="b" t="t" l="l"/>
              <a:pathLst>
                <a:path h="2849118" w="9225974">
                  <a:moveTo>
                    <a:pt x="0" y="0"/>
                  </a:moveTo>
                  <a:lnTo>
                    <a:pt x="9225974" y="0"/>
                  </a:lnTo>
                  <a:lnTo>
                    <a:pt x="9225974" y="2849118"/>
                  </a:lnTo>
                  <a:lnTo>
                    <a:pt x="0" y="28491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" r="-15747" b="0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9499080" y="9010269"/>
            <a:ext cx="7955280" cy="467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>
                <a:solidFill>
                  <a:srgbClr val="5B6B70"/>
                </a:solidFill>
                <a:latin typeface="Calibri (MS)"/>
                <a:ea typeface="Calibri (MS)"/>
                <a:cs typeface="Calibri (MS)"/>
                <a:sym typeface="Calibri (MS)"/>
              </a:rPr>
              <a:t>git log --oneline: meaningful, phased commits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699">
                  <a:solidFill>
                    <a:srgbClr val="52625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ShelfLife DevOps capstone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480060"/>
            <a:ext cx="16596360" cy="1165860"/>
            <a:chOff x="0" y="0"/>
            <a:chExt cx="22128480" cy="15544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7375" r="0" b="-22737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128480" cy="1564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5400" b="true">
                  <a:solidFill>
                    <a:srgbClr val="1F2A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CI/CD pipeline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13435" y="2116455"/>
            <a:ext cx="2487930" cy="1596390"/>
            <a:chOff x="0" y="0"/>
            <a:chExt cx="3317240" cy="2128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317240" cy="2128520"/>
            </a:xfrm>
            <a:custGeom>
              <a:avLst/>
              <a:gdLst/>
              <a:ahLst/>
              <a:cxnLst/>
              <a:rect r="r" b="b" t="t" l="l"/>
              <a:pathLst>
                <a:path h="2128520" w="3317240">
                  <a:moveTo>
                    <a:pt x="0" y="148082"/>
                  </a:moveTo>
                  <a:cubicBezTo>
                    <a:pt x="0" y="66294"/>
                    <a:pt x="66294" y="0"/>
                    <a:pt x="148082" y="0"/>
                  </a:cubicBezTo>
                  <a:lnTo>
                    <a:pt x="3169158" y="0"/>
                  </a:lnTo>
                  <a:cubicBezTo>
                    <a:pt x="3250946" y="0"/>
                    <a:pt x="3317240" y="66294"/>
                    <a:pt x="3317240" y="148082"/>
                  </a:cubicBezTo>
                  <a:lnTo>
                    <a:pt x="3317240" y="1980438"/>
                  </a:lnTo>
                  <a:cubicBezTo>
                    <a:pt x="3317240" y="2062226"/>
                    <a:pt x="3250946" y="2128520"/>
                    <a:pt x="3169158" y="2128520"/>
                  </a:cubicBezTo>
                  <a:lnTo>
                    <a:pt x="148082" y="2128520"/>
                  </a:lnTo>
                  <a:cubicBezTo>
                    <a:pt x="66294" y="2128520"/>
                    <a:pt x="0" y="2062226"/>
                    <a:pt x="0" y="1980438"/>
                  </a:cubicBezTo>
                  <a:close/>
                </a:path>
              </a:pathLst>
            </a:custGeom>
            <a:solidFill>
              <a:srgbClr val="2F7D5B"/>
            </a:solidFill>
            <a:ln w="19050" cap="sq">
              <a:solidFill>
                <a:srgbClr val="2F7D5B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822960" y="2125980"/>
            <a:ext cx="2468880" cy="1577340"/>
            <a:chOff x="0" y="0"/>
            <a:chExt cx="3291840" cy="21031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291840" cy="2103120"/>
            </a:xfrm>
            <a:custGeom>
              <a:avLst/>
              <a:gdLst/>
              <a:ahLst/>
              <a:cxnLst/>
              <a:rect r="r" b="b" t="t" l="l"/>
              <a:pathLst>
                <a:path h="210312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1971" t="0" r="-31971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3291840" cy="2160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Test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pytest, Ruff, Alembic</a:t>
              </a:r>
            </a:p>
          </p:txBody>
        </p:sp>
      </p:grpSp>
      <p:sp>
        <p:nvSpPr>
          <p:cNvPr name="AutoShape 13" id="13"/>
          <p:cNvSpPr/>
          <p:nvPr/>
        </p:nvSpPr>
        <p:spPr>
          <a:xfrm rot="267720">
            <a:off x="3274495" y="2898953"/>
            <a:ext cx="446170" cy="0"/>
          </a:xfrm>
          <a:prstGeom prst="line">
            <a:avLst/>
          </a:prstGeom>
          <a:ln cap="rnd" w="19050">
            <a:solidFill>
              <a:srgbClr val="1F2A2E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4" id="14"/>
          <p:cNvGrpSpPr/>
          <p:nvPr/>
        </p:nvGrpSpPr>
        <p:grpSpPr>
          <a:xfrm rot="0">
            <a:off x="3693795" y="2116455"/>
            <a:ext cx="2487930" cy="1596390"/>
            <a:chOff x="0" y="0"/>
            <a:chExt cx="3317240" cy="2128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317240" cy="2128520"/>
            </a:xfrm>
            <a:custGeom>
              <a:avLst/>
              <a:gdLst/>
              <a:ahLst/>
              <a:cxnLst/>
              <a:rect r="r" b="b" t="t" l="l"/>
              <a:pathLst>
                <a:path h="2128520" w="3317240">
                  <a:moveTo>
                    <a:pt x="0" y="148082"/>
                  </a:moveTo>
                  <a:cubicBezTo>
                    <a:pt x="0" y="66294"/>
                    <a:pt x="66294" y="0"/>
                    <a:pt x="148082" y="0"/>
                  </a:cubicBezTo>
                  <a:lnTo>
                    <a:pt x="3169158" y="0"/>
                  </a:lnTo>
                  <a:cubicBezTo>
                    <a:pt x="3250946" y="0"/>
                    <a:pt x="3317240" y="66294"/>
                    <a:pt x="3317240" y="148082"/>
                  </a:cubicBezTo>
                  <a:lnTo>
                    <a:pt x="3317240" y="1980438"/>
                  </a:lnTo>
                  <a:cubicBezTo>
                    <a:pt x="3317240" y="2062226"/>
                    <a:pt x="3250946" y="2128520"/>
                    <a:pt x="3169158" y="2128520"/>
                  </a:cubicBezTo>
                  <a:lnTo>
                    <a:pt x="148082" y="2128520"/>
                  </a:lnTo>
                  <a:cubicBezTo>
                    <a:pt x="66294" y="2128520"/>
                    <a:pt x="0" y="2062226"/>
                    <a:pt x="0" y="1980438"/>
                  </a:cubicBezTo>
                  <a:close/>
                </a:path>
              </a:pathLst>
            </a:custGeom>
            <a:solidFill>
              <a:srgbClr val="2F7D5B"/>
            </a:solidFill>
            <a:ln w="19050" cap="sq">
              <a:solidFill>
                <a:srgbClr val="2F7D5B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3703320" y="2125980"/>
            <a:ext cx="2468880" cy="1577340"/>
            <a:chOff x="0" y="0"/>
            <a:chExt cx="3291840" cy="21031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291840" cy="2103120"/>
            </a:xfrm>
            <a:custGeom>
              <a:avLst/>
              <a:gdLst/>
              <a:ahLst/>
              <a:cxnLst/>
              <a:rect r="r" b="b" t="t" l="l"/>
              <a:pathLst>
                <a:path h="210312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1971" t="0" r="-31971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3291840" cy="2160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Build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frontend + 2 images</a:t>
              </a:r>
            </a:p>
          </p:txBody>
        </p:sp>
      </p:grpSp>
      <p:sp>
        <p:nvSpPr>
          <p:cNvPr name="AutoShape 19" id="19"/>
          <p:cNvSpPr/>
          <p:nvPr/>
        </p:nvSpPr>
        <p:spPr>
          <a:xfrm rot="267720">
            <a:off x="6154855" y="2898953"/>
            <a:ext cx="446170" cy="0"/>
          </a:xfrm>
          <a:prstGeom prst="line">
            <a:avLst/>
          </a:prstGeom>
          <a:ln cap="rnd" w="19050">
            <a:solidFill>
              <a:srgbClr val="1F2A2E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0" id="20"/>
          <p:cNvGrpSpPr/>
          <p:nvPr/>
        </p:nvGrpSpPr>
        <p:grpSpPr>
          <a:xfrm rot="0">
            <a:off x="6574155" y="2116455"/>
            <a:ext cx="2487930" cy="1596390"/>
            <a:chOff x="0" y="0"/>
            <a:chExt cx="3317240" cy="21285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317240" cy="2128520"/>
            </a:xfrm>
            <a:custGeom>
              <a:avLst/>
              <a:gdLst/>
              <a:ahLst/>
              <a:cxnLst/>
              <a:rect r="r" b="b" t="t" l="l"/>
              <a:pathLst>
                <a:path h="2128520" w="3317240">
                  <a:moveTo>
                    <a:pt x="0" y="148082"/>
                  </a:moveTo>
                  <a:cubicBezTo>
                    <a:pt x="0" y="66294"/>
                    <a:pt x="66294" y="0"/>
                    <a:pt x="148082" y="0"/>
                  </a:cubicBezTo>
                  <a:lnTo>
                    <a:pt x="3169158" y="0"/>
                  </a:lnTo>
                  <a:cubicBezTo>
                    <a:pt x="3250946" y="0"/>
                    <a:pt x="3317240" y="66294"/>
                    <a:pt x="3317240" y="148082"/>
                  </a:cubicBezTo>
                  <a:lnTo>
                    <a:pt x="3317240" y="1980438"/>
                  </a:lnTo>
                  <a:cubicBezTo>
                    <a:pt x="3317240" y="2062226"/>
                    <a:pt x="3250946" y="2128520"/>
                    <a:pt x="3169158" y="2128520"/>
                  </a:cubicBezTo>
                  <a:lnTo>
                    <a:pt x="148082" y="2128520"/>
                  </a:lnTo>
                  <a:cubicBezTo>
                    <a:pt x="66294" y="2128520"/>
                    <a:pt x="0" y="2062226"/>
                    <a:pt x="0" y="1980438"/>
                  </a:cubicBezTo>
                  <a:close/>
                </a:path>
              </a:pathLst>
            </a:custGeom>
            <a:solidFill>
              <a:srgbClr val="D6453D"/>
            </a:solidFill>
            <a:ln w="19050" cap="sq">
              <a:solidFill>
                <a:srgbClr val="D6453D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6583680" y="2125980"/>
            <a:ext cx="2468880" cy="1577340"/>
            <a:chOff x="0" y="0"/>
            <a:chExt cx="3291840" cy="21031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291840" cy="2103120"/>
            </a:xfrm>
            <a:custGeom>
              <a:avLst/>
              <a:gdLst/>
              <a:ahLst/>
              <a:cxnLst/>
              <a:rect r="r" b="b" t="t" l="l"/>
              <a:pathLst>
                <a:path h="210312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1971" t="0" r="-31971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3291840" cy="2160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Scan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Trivy gate</a:t>
              </a:r>
            </a:p>
          </p:txBody>
        </p:sp>
      </p:grpSp>
      <p:sp>
        <p:nvSpPr>
          <p:cNvPr name="AutoShape 25" id="25"/>
          <p:cNvSpPr/>
          <p:nvPr/>
        </p:nvSpPr>
        <p:spPr>
          <a:xfrm rot="267720">
            <a:off x="9035215" y="2898953"/>
            <a:ext cx="446170" cy="0"/>
          </a:xfrm>
          <a:prstGeom prst="line">
            <a:avLst/>
          </a:prstGeom>
          <a:ln cap="rnd" w="19050">
            <a:solidFill>
              <a:srgbClr val="1F2A2E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6" id="26"/>
          <p:cNvGrpSpPr/>
          <p:nvPr/>
        </p:nvGrpSpPr>
        <p:grpSpPr>
          <a:xfrm rot="0">
            <a:off x="9454515" y="2116455"/>
            <a:ext cx="2487930" cy="1596390"/>
            <a:chOff x="0" y="0"/>
            <a:chExt cx="3317240" cy="21285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317240" cy="2128520"/>
            </a:xfrm>
            <a:custGeom>
              <a:avLst/>
              <a:gdLst/>
              <a:ahLst/>
              <a:cxnLst/>
              <a:rect r="r" b="b" t="t" l="l"/>
              <a:pathLst>
                <a:path h="2128520" w="3317240">
                  <a:moveTo>
                    <a:pt x="0" y="148082"/>
                  </a:moveTo>
                  <a:cubicBezTo>
                    <a:pt x="0" y="66294"/>
                    <a:pt x="66294" y="0"/>
                    <a:pt x="148082" y="0"/>
                  </a:cubicBezTo>
                  <a:lnTo>
                    <a:pt x="3169158" y="0"/>
                  </a:lnTo>
                  <a:cubicBezTo>
                    <a:pt x="3250946" y="0"/>
                    <a:pt x="3317240" y="66294"/>
                    <a:pt x="3317240" y="148082"/>
                  </a:cubicBezTo>
                  <a:lnTo>
                    <a:pt x="3317240" y="1980438"/>
                  </a:lnTo>
                  <a:cubicBezTo>
                    <a:pt x="3317240" y="2062226"/>
                    <a:pt x="3250946" y="2128520"/>
                    <a:pt x="3169158" y="2128520"/>
                  </a:cubicBezTo>
                  <a:lnTo>
                    <a:pt x="148082" y="2128520"/>
                  </a:lnTo>
                  <a:cubicBezTo>
                    <a:pt x="66294" y="2128520"/>
                    <a:pt x="0" y="2062226"/>
                    <a:pt x="0" y="1980438"/>
                  </a:cubicBezTo>
                  <a:close/>
                </a:path>
              </a:pathLst>
            </a:custGeom>
            <a:solidFill>
              <a:srgbClr val="2F7D5B"/>
            </a:solidFill>
            <a:ln w="19050" cap="sq">
              <a:solidFill>
                <a:srgbClr val="2F7D5B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9464040" y="2125980"/>
            <a:ext cx="2468880" cy="1577340"/>
            <a:chOff x="0" y="0"/>
            <a:chExt cx="3291840" cy="21031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291840" cy="2103120"/>
            </a:xfrm>
            <a:custGeom>
              <a:avLst/>
              <a:gdLst/>
              <a:ahLst/>
              <a:cxnLst/>
              <a:rect r="r" b="b" t="t" l="l"/>
              <a:pathLst>
                <a:path h="210312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1971" t="0" r="-31971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57150"/>
              <a:ext cx="3291840" cy="2160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Publish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GHCR :git-sha</a:t>
              </a:r>
            </a:p>
          </p:txBody>
        </p:sp>
      </p:grpSp>
      <p:sp>
        <p:nvSpPr>
          <p:cNvPr name="AutoShape 31" id="31"/>
          <p:cNvSpPr/>
          <p:nvPr/>
        </p:nvSpPr>
        <p:spPr>
          <a:xfrm rot="267720">
            <a:off x="11915575" y="2898953"/>
            <a:ext cx="446170" cy="0"/>
          </a:xfrm>
          <a:prstGeom prst="line">
            <a:avLst/>
          </a:prstGeom>
          <a:ln cap="rnd" w="19050">
            <a:solidFill>
              <a:srgbClr val="1F2A2E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2" id="32"/>
          <p:cNvGrpSpPr/>
          <p:nvPr/>
        </p:nvGrpSpPr>
        <p:grpSpPr>
          <a:xfrm rot="0">
            <a:off x="12334875" y="2116455"/>
            <a:ext cx="2487930" cy="1596390"/>
            <a:chOff x="0" y="0"/>
            <a:chExt cx="3317240" cy="21285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317240" cy="2128520"/>
            </a:xfrm>
            <a:custGeom>
              <a:avLst/>
              <a:gdLst/>
              <a:ahLst/>
              <a:cxnLst/>
              <a:rect r="r" b="b" t="t" l="l"/>
              <a:pathLst>
                <a:path h="2128520" w="3317240">
                  <a:moveTo>
                    <a:pt x="0" y="148082"/>
                  </a:moveTo>
                  <a:cubicBezTo>
                    <a:pt x="0" y="66294"/>
                    <a:pt x="66294" y="0"/>
                    <a:pt x="148082" y="0"/>
                  </a:cubicBezTo>
                  <a:lnTo>
                    <a:pt x="3169158" y="0"/>
                  </a:lnTo>
                  <a:cubicBezTo>
                    <a:pt x="3250946" y="0"/>
                    <a:pt x="3317240" y="66294"/>
                    <a:pt x="3317240" y="148082"/>
                  </a:cubicBezTo>
                  <a:lnTo>
                    <a:pt x="3317240" y="1980438"/>
                  </a:lnTo>
                  <a:cubicBezTo>
                    <a:pt x="3317240" y="2062226"/>
                    <a:pt x="3250946" y="2128520"/>
                    <a:pt x="3169158" y="2128520"/>
                  </a:cubicBezTo>
                  <a:lnTo>
                    <a:pt x="148082" y="2128520"/>
                  </a:lnTo>
                  <a:cubicBezTo>
                    <a:pt x="66294" y="2128520"/>
                    <a:pt x="0" y="2062226"/>
                    <a:pt x="0" y="1980438"/>
                  </a:cubicBezTo>
                  <a:close/>
                </a:path>
              </a:pathLst>
            </a:custGeom>
            <a:solidFill>
              <a:srgbClr val="2F7D5B"/>
            </a:solidFill>
            <a:ln w="19050" cap="sq">
              <a:solidFill>
                <a:srgbClr val="2F7D5B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2344400" y="2125980"/>
            <a:ext cx="2468880" cy="1577340"/>
            <a:chOff x="0" y="0"/>
            <a:chExt cx="3291840" cy="21031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291840" cy="2103120"/>
            </a:xfrm>
            <a:custGeom>
              <a:avLst/>
              <a:gdLst/>
              <a:ahLst/>
              <a:cxnLst/>
              <a:rect r="r" b="b" t="t" l="l"/>
              <a:pathLst>
                <a:path h="210312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1971" t="0" r="-31971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3291840" cy="2160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Deploy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kind + Helm + smoke</a:t>
              </a:r>
            </a:p>
          </p:txBody>
        </p:sp>
      </p:grpSp>
      <p:sp>
        <p:nvSpPr>
          <p:cNvPr name="AutoShape 37" id="37"/>
          <p:cNvSpPr/>
          <p:nvPr/>
        </p:nvSpPr>
        <p:spPr>
          <a:xfrm rot="267720">
            <a:off x="14795935" y="2898953"/>
            <a:ext cx="446170" cy="0"/>
          </a:xfrm>
          <a:prstGeom prst="line">
            <a:avLst/>
          </a:prstGeom>
          <a:ln cap="rnd" w="19050">
            <a:solidFill>
              <a:srgbClr val="1F2A2E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8" id="38"/>
          <p:cNvGrpSpPr/>
          <p:nvPr/>
        </p:nvGrpSpPr>
        <p:grpSpPr>
          <a:xfrm rot="0">
            <a:off x="15215235" y="2116455"/>
            <a:ext cx="2487930" cy="1596390"/>
            <a:chOff x="0" y="0"/>
            <a:chExt cx="3317240" cy="21285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317240" cy="2128520"/>
            </a:xfrm>
            <a:custGeom>
              <a:avLst/>
              <a:gdLst/>
              <a:ahLst/>
              <a:cxnLst/>
              <a:rect r="r" b="b" t="t" l="l"/>
              <a:pathLst>
                <a:path h="2128520" w="3317240">
                  <a:moveTo>
                    <a:pt x="0" y="148082"/>
                  </a:moveTo>
                  <a:cubicBezTo>
                    <a:pt x="0" y="66294"/>
                    <a:pt x="66294" y="0"/>
                    <a:pt x="148082" y="0"/>
                  </a:cubicBezTo>
                  <a:lnTo>
                    <a:pt x="3169158" y="0"/>
                  </a:lnTo>
                  <a:cubicBezTo>
                    <a:pt x="3250946" y="0"/>
                    <a:pt x="3317240" y="66294"/>
                    <a:pt x="3317240" y="148082"/>
                  </a:cubicBezTo>
                  <a:lnTo>
                    <a:pt x="3317240" y="1980438"/>
                  </a:lnTo>
                  <a:cubicBezTo>
                    <a:pt x="3317240" y="2062226"/>
                    <a:pt x="3250946" y="2128520"/>
                    <a:pt x="3169158" y="2128520"/>
                  </a:cubicBezTo>
                  <a:lnTo>
                    <a:pt x="148082" y="2128520"/>
                  </a:lnTo>
                  <a:cubicBezTo>
                    <a:pt x="66294" y="2128520"/>
                    <a:pt x="0" y="2062226"/>
                    <a:pt x="0" y="1980438"/>
                  </a:cubicBezTo>
                  <a:close/>
                </a:path>
              </a:pathLst>
            </a:custGeom>
            <a:solidFill>
              <a:srgbClr val="E8A317"/>
            </a:solidFill>
            <a:ln w="19050" cap="sq">
              <a:solidFill>
                <a:srgbClr val="E8A317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5224760" y="2125980"/>
            <a:ext cx="2468880" cy="1577340"/>
            <a:chOff x="0" y="0"/>
            <a:chExt cx="3291840" cy="21031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291840" cy="2103120"/>
            </a:xfrm>
            <a:custGeom>
              <a:avLst/>
              <a:gdLst/>
              <a:ahLst/>
              <a:cxnLst/>
              <a:rect r="r" b="b" t="t" l="l"/>
              <a:pathLst>
                <a:path h="210312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1971" t="0" r="-31971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57150"/>
              <a:ext cx="3291840" cy="2160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1F2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Promote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1F2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SHA into Git</a:t>
              </a: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822960" y="4055745"/>
            <a:ext cx="6309360" cy="15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sz="2449">
                <a:solidFill>
                  <a:srgbClr val="33454A"/>
                </a:solidFill>
                <a:latin typeface="Calibri (MS)"/>
                <a:ea typeface="Calibri (MS)"/>
                <a:cs typeface="Calibri (MS)"/>
                <a:sym typeface="Calibri (MS)"/>
              </a:rPr>
              <a:t>Runs on every push to main. Each job needs the previous one, so a failed test or a HIGH/CRITICAL CVE stops the image from ever reaching the registry.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822960" y="6398895"/>
            <a:ext cx="6309360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sz="2449" b="true">
                <a:solidFill>
                  <a:srgbClr val="2F7D5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Images are tagged only with the commit SHA, never latest.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6824960" y="9608820"/>
            <a:ext cx="640080" cy="35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52625F"/>
                </a:solidFill>
                <a:latin typeface="Calibri (MS)"/>
                <a:ea typeface="Calibri (MS)"/>
                <a:cs typeface="Calibri (MS)"/>
                <a:sym typeface="Calibri (MS)"/>
              </a:rPr>
              <a:t>7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7843866" y="4103370"/>
            <a:ext cx="9275378" cy="4705160"/>
            <a:chOff x="0" y="0"/>
            <a:chExt cx="12367171" cy="6273546"/>
          </a:xfrm>
        </p:grpSpPr>
        <p:sp>
          <p:nvSpPr>
            <p:cNvPr name="Freeform 47" id="47" descr="E06-github-actions-green.png"/>
            <p:cNvSpPr/>
            <p:nvPr/>
          </p:nvSpPr>
          <p:spPr>
            <a:xfrm flipH="false" flipV="false" rot="0">
              <a:off x="0" y="0"/>
              <a:ext cx="12367133" cy="6273546"/>
            </a:xfrm>
            <a:custGeom>
              <a:avLst/>
              <a:gdLst/>
              <a:ahLst/>
              <a:cxnLst/>
              <a:rect r="r" b="b" t="t" l="l"/>
              <a:pathLst>
                <a:path h="6273546" w="12367133">
                  <a:moveTo>
                    <a:pt x="0" y="0"/>
                  </a:moveTo>
                  <a:lnTo>
                    <a:pt x="12367133" y="0"/>
                  </a:lnTo>
                  <a:lnTo>
                    <a:pt x="12367133" y="6273546"/>
                  </a:lnTo>
                  <a:lnTo>
                    <a:pt x="0" y="62735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5" t="0" r="-75" b="0"/>
              </a:stretch>
            </a:blipFill>
          </p:spPr>
        </p:sp>
      </p:grpSp>
      <p:sp>
        <p:nvSpPr>
          <p:cNvPr name="TextBox 48" id="48"/>
          <p:cNvSpPr txBox="true"/>
          <p:nvPr/>
        </p:nvSpPr>
        <p:spPr>
          <a:xfrm rot="0">
            <a:off x="7543800" y="8972550"/>
            <a:ext cx="9875520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99"/>
              </a:lnSpc>
            </a:pPr>
            <a:r>
              <a:rPr lang="en-US" sz="1749">
                <a:solidFill>
                  <a:srgbClr val="5B6B70"/>
                </a:solidFill>
                <a:latin typeface="Calibri (MS)"/>
                <a:ea typeface="Calibri (MS)"/>
                <a:cs typeface="Calibri (MS)"/>
                <a:sym typeface="Calibri (MS)"/>
              </a:rPr>
              <a:t>Run #2 on main (commit b728abc): all 7 jobs green, 4m 2s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52625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ShelfLife DevOps capstone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-635446"/>
            <a:ext cx="16596360" cy="3815584"/>
            <a:chOff x="0" y="0"/>
            <a:chExt cx="22128480" cy="508744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5087445"/>
            </a:xfrm>
            <a:custGeom>
              <a:avLst/>
              <a:gdLst/>
              <a:ahLst/>
              <a:cxnLst/>
              <a:rect r="r" b="b" t="t" l="l"/>
              <a:pathLst>
                <a:path h="508744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5087445"/>
                  </a:lnTo>
                  <a:lnTo>
                    <a:pt x="0" y="50874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475" r="0" b="-3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128480" cy="5096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1F2A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DevSecOps: Trivy and GHCR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822960" y="2479929"/>
            <a:ext cx="7132320" cy="579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7679" indent="-248839" lvl="1">
              <a:lnSpc>
                <a:spcPts val="3299"/>
              </a:lnSpc>
              <a:buFont typeface="Arial"/>
              <a:buChar char="•"/>
            </a:pPr>
            <a:r>
              <a:rPr lang="en-US" sz="2749">
                <a:solidFill>
                  <a:srgbClr val="1F2A2E"/>
                </a:solidFill>
                <a:latin typeface="Calibri (MS)"/>
                <a:ea typeface="Calibri (MS)"/>
                <a:cs typeface="Calibri (MS)"/>
                <a:sym typeface="Calibri (MS)"/>
              </a:rPr>
              <a:t>trivy image --severity HIGH,CRITICAL --ignore-unfixed --exit-code 1 runs on both images before the push</a:t>
            </a:r>
          </a:p>
          <a:p>
            <a:pPr algn="l">
              <a:lnSpc>
                <a:spcPts val="3299"/>
              </a:lnSpc>
            </a:pPr>
          </a:p>
          <a:p>
            <a:pPr algn="l" marL="497679" indent="-248839" lvl="1">
              <a:lnSpc>
                <a:spcPts val="3299"/>
              </a:lnSpc>
              <a:buFont typeface="Arial"/>
              <a:buChar char="•"/>
            </a:pPr>
            <a:r>
              <a:rPr lang="en-US" sz="2749">
                <a:solidFill>
                  <a:srgbClr val="1F2A2E"/>
                </a:solidFill>
                <a:latin typeface="Calibri (MS)"/>
                <a:ea typeface="Calibri (MS)"/>
                <a:cs typeface="Calibri (MS)"/>
                <a:sym typeface="Calibri (MS)"/>
              </a:rPr>
              <a:t>Pipeline run #2 (commit b728abc): no fixable HIGH/CRITICAL findings in either image, so both were pushed</a:t>
            </a:r>
          </a:p>
          <a:p>
            <a:pPr algn="l">
              <a:lnSpc>
                <a:spcPts val="3299"/>
              </a:lnSpc>
            </a:pPr>
          </a:p>
          <a:p>
            <a:pPr algn="l" marL="497679" indent="-248839" lvl="1">
              <a:lnSpc>
                <a:spcPts val="3299"/>
              </a:lnSpc>
              <a:buFont typeface="Arial"/>
              <a:buChar char="•"/>
            </a:pPr>
            <a:r>
              <a:rPr lang="en-US" sz="2749">
                <a:solidFill>
                  <a:srgbClr val="1F2A2E"/>
                </a:solidFill>
                <a:latin typeface="Calibri (MS)"/>
                <a:ea typeface="Calibri (MS)"/>
                <a:cs typeface="Calibri (MS)"/>
                <a:sym typeface="Calibri (MS)"/>
              </a:rPr>
              <a:t>During development a local scan found 4 HIGH in pip's vendored libraries; pip is now removed from the runtime image</a:t>
            </a:r>
          </a:p>
          <a:p>
            <a:pPr algn="l">
              <a:lnSpc>
                <a:spcPts val="3299"/>
              </a:lnSpc>
            </a:pPr>
          </a:p>
          <a:p>
            <a:pPr algn="l" marL="497679" indent="-248839" lvl="1">
              <a:lnSpc>
                <a:spcPts val="3299"/>
              </a:lnSpc>
              <a:buFont typeface="Arial"/>
              <a:buChar char="•"/>
            </a:pPr>
            <a:r>
              <a:rPr lang="en-US" sz="2749">
                <a:solidFill>
                  <a:srgbClr val="1F2A2E"/>
                </a:solidFill>
                <a:latin typeface="Calibri (MS)"/>
                <a:ea typeface="Calibri (MS)"/>
                <a:cs typeface="Calibri (MS)"/>
                <a:sym typeface="Calibri (MS)"/>
              </a:rPr>
              <a:t>GHCR login uses the built-in GITHUB_TOKEN; images are tagged with the full commit SHA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824960" y="9608820"/>
            <a:ext cx="640080" cy="35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52625F"/>
                </a:solidFill>
                <a:latin typeface="Calibri (MS)"/>
                <a:ea typeface="Calibri (MS)"/>
                <a:cs typeface="Calibri (MS)"/>
                <a:sym typeface="Calibri (MS)"/>
              </a:rPr>
              <a:t>8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146792" y="487156"/>
            <a:ext cx="8130275" cy="4080796"/>
            <a:chOff x="0" y="0"/>
            <a:chExt cx="8308848" cy="4170426"/>
          </a:xfrm>
        </p:grpSpPr>
        <p:sp>
          <p:nvSpPr>
            <p:cNvPr name="Freeform 11" id="11" descr="E07-trivy-scan-frontend.png"/>
            <p:cNvSpPr/>
            <p:nvPr/>
          </p:nvSpPr>
          <p:spPr>
            <a:xfrm flipH="false" flipV="false" rot="0">
              <a:off x="0" y="0"/>
              <a:ext cx="8308848" cy="4170426"/>
            </a:xfrm>
            <a:custGeom>
              <a:avLst/>
              <a:gdLst/>
              <a:ahLst/>
              <a:cxnLst/>
              <a:rect r="r" b="b" t="t" l="l"/>
              <a:pathLst>
                <a:path h="4170426" w="8308848">
                  <a:moveTo>
                    <a:pt x="0" y="0"/>
                  </a:moveTo>
                  <a:lnTo>
                    <a:pt x="8308848" y="0"/>
                  </a:lnTo>
                  <a:lnTo>
                    <a:pt x="8308848" y="4170426"/>
                  </a:lnTo>
                  <a:lnTo>
                    <a:pt x="0" y="4170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14" t="0" r="-114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9691116" y="4666488"/>
            <a:ext cx="9052560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99"/>
              </a:lnSpc>
            </a:pPr>
            <a:r>
              <a:rPr lang="en-US" sz="1749">
                <a:solidFill>
                  <a:srgbClr val="5B6B70"/>
                </a:solidFill>
                <a:latin typeface="Calibri (MS)"/>
                <a:ea typeface="Calibri (MS)"/>
                <a:cs typeface="Calibri (MS)"/>
                <a:sym typeface="Calibri (MS)"/>
              </a:rPr>
              <a:t>Trivy on the frontend image: alpine 3.24.2, 0 vulnerabilities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135859" y="5150714"/>
            <a:ext cx="8141208" cy="4107586"/>
            <a:chOff x="0" y="0"/>
            <a:chExt cx="8265757" cy="4170426"/>
          </a:xfrm>
        </p:grpSpPr>
        <p:sp>
          <p:nvSpPr>
            <p:cNvPr name="Freeform 14" id="14" descr="E08-ghcr-packages-backend.png"/>
            <p:cNvSpPr/>
            <p:nvPr/>
          </p:nvSpPr>
          <p:spPr>
            <a:xfrm flipH="false" flipV="false" rot="0">
              <a:off x="0" y="0"/>
              <a:ext cx="8265795" cy="4170426"/>
            </a:xfrm>
            <a:custGeom>
              <a:avLst/>
              <a:gdLst/>
              <a:ahLst/>
              <a:cxnLst/>
              <a:rect r="r" b="b" t="t" l="l"/>
              <a:pathLst>
                <a:path h="4170426" w="8265795">
                  <a:moveTo>
                    <a:pt x="0" y="0"/>
                  </a:moveTo>
                  <a:lnTo>
                    <a:pt x="8265795" y="0"/>
                  </a:lnTo>
                  <a:lnTo>
                    <a:pt x="8265795" y="4170426"/>
                  </a:lnTo>
                  <a:lnTo>
                    <a:pt x="0" y="4170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13" t="0" r="-113" b="0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9986391" y="9351645"/>
            <a:ext cx="9052560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99"/>
              </a:lnSpc>
            </a:pPr>
            <a:r>
              <a:rPr lang="en-US" sz="1749">
                <a:solidFill>
                  <a:srgbClr val="5B6B70"/>
                </a:solidFill>
                <a:latin typeface="Calibri (MS)"/>
                <a:ea typeface="Calibri (MS)"/>
                <a:cs typeface="Calibri (MS)"/>
                <a:sym typeface="Calibri (MS)"/>
              </a:rPr>
              <a:t>GHCR shelflife-backend: tags are commit SHAs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699">
                  <a:solidFill>
                    <a:srgbClr val="52625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ShelfLife DevOps capstone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-1151576"/>
            <a:ext cx="16596360" cy="3960502"/>
            <a:chOff x="0" y="0"/>
            <a:chExt cx="22128480" cy="528067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5280670"/>
            </a:xfrm>
            <a:custGeom>
              <a:avLst/>
              <a:gdLst/>
              <a:ahLst/>
              <a:cxnLst/>
              <a:rect r="r" b="b" t="t" l="l"/>
              <a:pathLst>
                <a:path h="528067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5280670"/>
                  </a:lnTo>
                  <a:lnTo>
                    <a:pt x="0" y="52806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32" r="0" b="362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128480" cy="5290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1F2A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Security evidence for both images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6824960" y="9608820"/>
            <a:ext cx="64008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52625F"/>
                </a:solidFill>
                <a:latin typeface="Calibri (MS)"/>
                <a:ea typeface="Calibri (MS)"/>
                <a:cs typeface="Calibri (MS)"/>
                <a:sym typeface="Calibri (MS)"/>
              </a:rPr>
              <a:t>9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0" y="1897364"/>
            <a:ext cx="8991124" cy="4468336"/>
            <a:chOff x="0" y="0"/>
            <a:chExt cx="10900410" cy="5417198"/>
          </a:xfrm>
        </p:grpSpPr>
        <p:sp>
          <p:nvSpPr>
            <p:cNvPr name="Freeform 10" id="10" descr="E07-trivy-scan-backend.png"/>
            <p:cNvSpPr/>
            <p:nvPr/>
          </p:nvSpPr>
          <p:spPr>
            <a:xfrm flipH="false" flipV="false" rot="0">
              <a:off x="0" y="0"/>
              <a:ext cx="10900410" cy="5417185"/>
            </a:xfrm>
            <a:custGeom>
              <a:avLst/>
              <a:gdLst/>
              <a:ahLst/>
              <a:cxnLst/>
              <a:rect r="r" b="b" t="t" l="l"/>
              <a:pathLst>
                <a:path h="5417185" w="10900410">
                  <a:moveTo>
                    <a:pt x="0" y="0"/>
                  </a:moveTo>
                  <a:lnTo>
                    <a:pt x="10900410" y="0"/>
                  </a:lnTo>
                  <a:lnTo>
                    <a:pt x="10900410" y="5417185"/>
                  </a:lnTo>
                  <a:lnTo>
                    <a:pt x="0" y="54171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88" t="0" r="-88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822960" y="6402762"/>
            <a:ext cx="8161020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99"/>
              </a:lnSpc>
            </a:pPr>
            <a:r>
              <a:rPr lang="en-US" sz="1749">
                <a:solidFill>
                  <a:srgbClr val="5B6B70"/>
                </a:solidFill>
                <a:latin typeface="Calibri (MS)"/>
                <a:ea typeface="Calibri (MS)"/>
                <a:cs typeface="Calibri (MS)"/>
                <a:sym typeface="Calibri (MS)"/>
              </a:rPr>
              <a:t>Trivy on the backend image: every Python package 0 findings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251156" y="1854046"/>
            <a:ext cx="9036844" cy="4528666"/>
            <a:chOff x="0" y="0"/>
            <a:chExt cx="10900410" cy="5462562"/>
          </a:xfrm>
        </p:grpSpPr>
        <p:sp>
          <p:nvSpPr>
            <p:cNvPr name="Freeform 13" id="13" descr="E08-ghcr-packages-frontend.png"/>
            <p:cNvSpPr/>
            <p:nvPr/>
          </p:nvSpPr>
          <p:spPr>
            <a:xfrm flipH="false" flipV="false" rot="0">
              <a:off x="0" y="0"/>
              <a:ext cx="10900410" cy="5462524"/>
            </a:xfrm>
            <a:custGeom>
              <a:avLst/>
              <a:gdLst/>
              <a:ahLst/>
              <a:cxnLst/>
              <a:rect r="r" b="b" t="t" l="l"/>
              <a:pathLst>
                <a:path h="5462524" w="10900410">
                  <a:moveTo>
                    <a:pt x="0" y="0"/>
                  </a:moveTo>
                  <a:lnTo>
                    <a:pt x="10900410" y="0"/>
                  </a:lnTo>
                  <a:lnTo>
                    <a:pt x="10900410" y="5462524"/>
                  </a:lnTo>
                  <a:lnTo>
                    <a:pt x="0" y="54625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87" t="0" r="-87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258300" y="6419764"/>
            <a:ext cx="8161020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99"/>
              </a:lnSpc>
            </a:pPr>
            <a:r>
              <a:rPr lang="en-US" sz="1749">
                <a:solidFill>
                  <a:srgbClr val="5B6B70"/>
                </a:solidFill>
                <a:latin typeface="Calibri (MS)"/>
                <a:ea typeface="Calibri (MS)"/>
                <a:cs typeface="Calibri (MS)"/>
                <a:sym typeface="Calibri (MS)"/>
              </a:rPr>
              <a:t>GHCR shelflife-frontend: same SHA tag as the backend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37260" y="7591906"/>
            <a:ext cx="1641348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1F2A2E"/>
                </a:solidFill>
                <a:latin typeface="Calibri (MS)"/>
                <a:ea typeface="Calibri (MS)"/>
                <a:cs typeface="Calibri (MS)"/>
                <a:sym typeface="Calibri (MS)"/>
              </a:rPr>
              <a:t>Same pipeline run #2 (commit b728abc): neither image had a fixable HIGH or CRITICAL vulnerability, so the gate passed.</a:t>
            </a:r>
          </a:p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1F2A2E"/>
                </a:solidFill>
                <a:latin typeface="Calibri (MS)"/>
                <a:ea typeface="Calibri (MS)"/>
                <a:cs typeface="Calibri (MS)"/>
                <a:sym typeface="Calibri (MS)"/>
              </a:rPr>
              <a:t>Both packages carry the identical 40-character commit SHA tag, so every running container traces back to one commit.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699">
                  <a:solidFill>
                    <a:srgbClr val="52625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ShelfLife DevOps capstone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406537" y="-1164112"/>
            <a:ext cx="11467367" cy="3960502"/>
            <a:chOff x="0" y="0"/>
            <a:chExt cx="15289822" cy="528067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289823" cy="5280670"/>
            </a:xfrm>
            <a:custGeom>
              <a:avLst/>
              <a:gdLst/>
              <a:ahLst/>
              <a:cxnLst/>
              <a:rect r="r" b="b" t="t" l="l"/>
              <a:pathLst>
                <a:path h="5280670" w="15289823">
                  <a:moveTo>
                    <a:pt x="0" y="0"/>
                  </a:moveTo>
                  <a:lnTo>
                    <a:pt x="15289823" y="0"/>
                  </a:lnTo>
                  <a:lnTo>
                    <a:pt x="15289823" y="5280670"/>
                  </a:lnTo>
                  <a:lnTo>
                    <a:pt x="0" y="52806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32" r="-44726" b="362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5289822" cy="5290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5400" b="true">
                  <a:solidFill>
                    <a:srgbClr val="1F2A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Infrastructure as code on AWS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46710" y="2582337"/>
            <a:ext cx="6074465" cy="4729772"/>
            <a:chOff x="0" y="0"/>
            <a:chExt cx="9913620" cy="77190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913620" cy="7719060"/>
            </a:xfrm>
            <a:custGeom>
              <a:avLst/>
              <a:gdLst/>
              <a:ahLst/>
              <a:cxnLst/>
              <a:rect r="r" b="b" t="t" l="l"/>
              <a:pathLst>
                <a:path h="7719060" w="9913620">
                  <a:moveTo>
                    <a:pt x="0" y="183769"/>
                  </a:moveTo>
                  <a:cubicBezTo>
                    <a:pt x="0" y="82296"/>
                    <a:pt x="82296" y="0"/>
                    <a:pt x="183769" y="0"/>
                  </a:cubicBezTo>
                  <a:lnTo>
                    <a:pt x="9729851" y="0"/>
                  </a:lnTo>
                  <a:cubicBezTo>
                    <a:pt x="9831324" y="0"/>
                    <a:pt x="9913620" y="82296"/>
                    <a:pt x="9913620" y="183769"/>
                  </a:cubicBezTo>
                  <a:lnTo>
                    <a:pt x="9913620" y="7535291"/>
                  </a:lnTo>
                  <a:cubicBezTo>
                    <a:pt x="9913620" y="7636764"/>
                    <a:pt x="9831324" y="7719060"/>
                    <a:pt x="9729851" y="7719060"/>
                  </a:cubicBezTo>
                  <a:lnTo>
                    <a:pt x="183769" y="7719060"/>
                  </a:lnTo>
                  <a:cubicBezTo>
                    <a:pt x="82296" y="7719060"/>
                    <a:pt x="0" y="7636764"/>
                    <a:pt x="0" y="7535291"/>
                  </a:cubicBezTo>
                  <a:close/>
                </a:path>
              </a:pathLst>
            </a:custGeom>
            <a:solidFill>
              <a:srgbClr val="EEF4F2"/>
            </a:solidFill>
            <a:ln w="28575" cap="sq">
              <a:solidFill>
                <a:srgbClr val="3D6E8C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582498" y="2667968"/>
            <a:ext cx="5602888" cy="486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58"/>
              </a:lnSpc>
            </a:pPr>
            <a:r>
              <a:rPr lang="en-US" sz="1715" b="true">
                <a:solidFill>
                  <a:srgbClr val="3D6E8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VPC 10.42.0.0/16  (ap-south-1)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86774" y="3314604"/>
            <a:ext cx="2592892" cy="1080112"/>
            <a:chOff x="0" y="0"/>
            <a:chExt cx="4231640" cy="17627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231640" cy="1762760"/>
            </a:xfrm>
            <a:custGeom>
              <a:avLst/>
              <a:gdLst/>
              <a:ahLst/>
              <a:cxnLst/>
              <a:rect r="r" b="b" t="t" l="l"/>
              <a:pathLst>
                <a:path h="1762760" w="4231640">
                  <a:moveTo>
                    <a:pt x="0" y="148463"/>
                  </a:moveTo>
                  <a:cubicBezTo>
                    <a:pt x="0" y="66421"/>
                    <a:pt x="66421" y="0"/>
                    <a:pt x="148463" y="0"/>
                  </a:cubicBezTo>
                  <a:lnTo>
                    <a:pt x="4083177" y="0"/>
                  </a:lnTo>
                  <a:cubicBezTo>
                    <a:pt x="4165219" y="0"/>
                    <a:pt x="4231640" y="66421"/>
                    <a:pt x="4231640" y="148463"/>
                  </a:cubicBezTo>
                  <a:lnTo>
                    <a:pt x="4231640" y="1614297"/>
                  </a:lnTo>
                  <a:cubicBezTo>
                    <a:pt x="4231640" y="1696339"/>
                    <a:pt x="4165219" y="1762760"/>
                    <a:pt x="4083177" y="1762760"/>
                  </a:cubicBezTo>
                  <a:lnTo>
                    <a:pt x="148463" y="1762760"/>
                  </a:lnTo>
                  <a:cubicBezTo>
                    <a:pt x="66421" y="1762760"/>
                    <a:pt x="0" y="1696339"/>
                    <a:pt x="0" y="1614297"/>
                  </a:cubicBezTo>
                  <a:close/>
                </a:path>
              </a:pathLst>
            </a:custGeom>
            <a:solidFill>
              <a:srgbClr val="3D6E8C"/>
            </a:solidFill>
            <a:ln w="19050" cap="sq">
              <a:solidFill>
                <a:srgbClr val="3D6E8C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694556" y="3322386"/>
            <a:ext cx="2577329" cy="1064549"/>
            <a:chOff x="0" y="0"/>
            <a:chExt cx="4206240" cy="17373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206240" cy="1737360"/>
            </a:xfrm>
            <a:custGeom>
              <a:avLst/>
              <a:gdLst/>
              <a:ahLst/>
              <a:cxnLst/>
              <a:rect r="r" b="b" t="t" l="l"/>
              <a:pathLst>
                <a:path h="173736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994" t="0" r="-2994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4206240" cy="1794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Public subnet A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AZ 1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3544247" y="3314604"/>
            <a:ext cx="2592892" cy="1080112"/>
            <a:chOff x="0" y="0"/>
            <a:chExt cx="4231640" cy="17627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231640" cy="1762760"/>
            </a:xfrm>
            <a:custGeom>
              <a:avLst/>
              <a:gdLst/>
              <a:ahLst/>
              <a:cxnLst/>
              <a:rect r="r" b="b" t="t" l="l"/>
              <a:pathLst>
                <a:path h="1762760" w="4231640">
                  <a:moveTo>
                    <a:pt x="0" y="148463"/>
                  </a:moveTo>
                  <a:cubicBezTo>
                    <a:pt x="0" y="66421"/>
                    <a:pt x="66421" y="0"/>
                    <a:pt x="148463" y="0"/>
                  </a:cubicBezTo>
                  <a:lnTo>
                    <a:pt x="4083177" y="0"/>
                  </a:lnTo>
                  <a:cubicBezTo>
                    <a:pt x="4165219" y="0"/>
                    <a:pt x="4231640" y="66421"/>
                    <a:pt x="4231640" y="148463"/>
                  </a:cubicBezTo>
                  <a:lnTo>
                    <a:pt x="4231640" y="1614297"/>
                  </a:lnTo>
                  <a:cubicBezTo>
                    <a:pt x="4231640" y="1696339"/>
                    <a:pt x="4165219" y="1762760"/>
                    <a:pt x="4083177" y="1762760"/>
                  </a:cubicBezTo>
                  <a:lnTo>
                    <a:pt x="148463" y="1762760"/>
                  </a:lnTo>
                  <a:cubicBezTo>
                    <a:pt x="66421" y="1762760"/>
                    <a:pt x="0" y="1696339"/>
                    <a:pt x="0" y="1614297"/>
                  </a:cubicBezTo>
                  <a:close/>
                </a:path>
              </a:pathLst>
            </a:custGeom>
            <a:solidFill>
              <a:srgbClr val="3D6E8C"/>
            </a:solidFill>
            <a:ln w="19050" cap="sq">
              <a:solidFill>
                <a:srgbClr val="3D6E8C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3552029" y="3322386"/>
            <a:ext cx="2577329" cy="1064549"/>
            <a:chOff x="0" y="0"/>
            <a:chExt cx="4206240" cy="17373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206240" cy="1737360"/>
            </a:xfrm>
            <a:custGeom>
              <a:avLst/>
              <a:gdLst/>
              <a:ahLst/>
              <a:cxnLst/>
              <a:rect r="r" b="b" t="t" l="l"/>
              <a:pathLst>
                <a:path h="173736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994" t="0" r="-2994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4206240" cy="1794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Public subnet B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AZ 2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86774" y="4659297"/>
            <a:ext cx="5450365" cy="1024083"/>
            <a:chOff x="0" y="0"/>
            <a:chExt cx="8895080" cy="16713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895080" cy="1671320"/>
            </a:xfrm>
            <a:custGeom>
              <a:avLst/>
              <a:gdLst/>
              <a:ahLst/>
              <a:cxnLst/>
              <a:rect r="r" b="b" t="t" l="l"/>
              <a:pathLst>
                <a:path h="1671320" w="8895080">
                  <a:moveTo>
                    <a:pt x="0" y="148590"/>
                  </a:moveTo>
                  <a:cubicBezTo>
                    <a:pt x="0" y="66548"/>
                    <a:pt x="66548" y="0"/>
                    <a:pt x="148590" y="0"/>
                  </a:cubicBezTo>
                  <a:lnTo>
                    <a:pt x="8746490" y="0"/>
                  </a:lnTo>
                  <a:cubicBezTo>
                    <a:pt x="8828532" y="0"/>
                    <a:pt x="8895080" y="66548"/>
                    <a:pt x="8895080" y="148590"/>
                  </a:cubicBezTo>
                  <a:lnTo>
                    <a:pt x="8895080" y="1522730"/>
                  </a:lnTo>
                  <a:cubicBezTo>
                    <a:pt x="8895080" y="1604772"/>
                    <a:pt x="8828532" y="1671320"/>
                    <a:pt x="8746490" y="1671320"/>
                  </a:cubicBezTo>
                  <a:lnTo>
                    <a:pt x="148590" y="1671320"/>
                  </a:lnTo>
                  <a:cubicBezTo>
                    <a:pt x="66548" y="1671320"/>
                    <a:pt x="0" y="1604772"/>
                    <a:pt x="0" y="1522730"/>
                  </a:cubicBezTo>
                  <a:close/>
                </a:path>
              </a:pathLst>
            </a:custGeom>
            <a:solidFill>
              <a:srgbClr val="1F2A2E"/>
            </a:solidFill>
            <a:ln w="19050" cap="sq">
              <a:solidFill>
                <a:srgbClr val="1F2A2E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694556" y="4667079"/>
            <a:ext cx="5434802" cy="1008520"/>
            <a:chOff x="0" y="0"/>
            <a:chExt cx="8869680" cy="16459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8696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8869680">
                  <a:moveTo>
                    <a:pt x="0" y="0"/>
                  </a:moveTo>
                  <a:lnTo>
                    <a:pt x="8869680" y="0"/>
                  </a:lnTo>
                  <a:lnTo>
                    <a:pt x="88696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002" r="0" b="-55002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8869680" cy="17030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EKS 1.36 control plane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standard support only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86774" y="5947961"/>
            <a:ext cx="5450365" cy="1024083"/>
            <a:chOff x="0" y="0"/>
            <a:chExt cx="8895080" cy="16713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895080" cy="1671320"/>
            </a:xfrm>
            <a:custGeom>
              <a:avLst/>
              <a:gdLst/>
              <a:ahLst/>
              <a:cxnLst/>
              <a:rect r="r" b="b" t="t" l="l"/>
              <a:pathLst>
                <a:path h="1671320" w="8895080">
                  <a:moveTo>
                    <a:pt x="0" y="148590"/>
                  </a:moveTo>
                  <a:cubicBezTo>
                    <a:pt x="0" y="66548"/>
                    <a:pt x="66548" y="0"/>
                    <a:pt x="148590" y="0"/>
                  </a:cubicBezTo>
                  <a:lnTo>
                    <a:pt x="8746490" y="0"/>
                  </a:lnTo>
                  <a:cubicBezTo>
                    <a:pt x="8828532" y="0"/>
                    <a:pt x="8895080" y="66548"/>
                    <a:pt x="8895080" y="148590"/>
                  </a:cubicBezTo>
                  <a:lnTo>
                    <a:pt x="8895080" y="1522730"/>
                  </a:lnTo>
                  <a:cubicBezTo>
                    <a:pt x="8895080" y="1604772"/>
                    <a:pt x="8828532" y="1671320"/>
                    <a:pt x="8746490" y="1671320"/>
                  </a:cubicBezTo>
                  <a:lnTo>
                    <a:pt x="148590" y="1671320"/>
                  </a:lnTo>
                  <a:cubicBezTo>
                    <a:pt x="66548" y="1671320"/>
                    <a:pt x="0" y="1604772"/>
                    <a:pt x="0" y="1522730"/>
                  </a:cubicBezTo>
                  <a:close/>
                </a:path>
              </a:pathLst>
            </a:custGeom>
            <a:solidFill>
              <a:srgbClr val="2F7D5B"/>
            </a:solidFill>
            <a:ln w="19050" cap="sq">
              <a:solidFill>
                <a:srgbClr val="2F7D5B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694556" y="5955743"/>
            <a:ext cx="5434802" cy="1008520"/>
            <a:chOff x="0" y="0"/>
            <a:chExt cx="8869680" cy="16459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8696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8869680">
                  <a:moveTo>
                    <a:pt x="0" y="0"/>
                  </a:moveTo>
                  <a:lnTo>
                    <a:pt x="8869680" y="0"/>
                  </a:lnTo>
                  <a:lnTo>
                    <a:pt x="88696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002" r="0" b="-55002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57150"/>
              <a:ext cx="8869680" cy="17030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Managed node group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 x t3.small (evidence run)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346710" y="7573180"/>
            <a:ext cx="6074465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33454A"/>
                </a:solidFill>
                <a:latin typeface="Calibri (MS)"/>
                <a:ea typeface="Calibri (MS)"/>
                <a:cs typeface="Calibri (MS)"/>
                <a:sym typeface="Calibri (MS)"/>
              </a:rPr>
              <a:t>No NAT gateway, no control-plane logging, local state. Destroyed right after the evidence was captured.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6939260" y="9778365"/>
            <a:ext cx="64008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19"/>
              </a:lnSpc>
            </a:pPr>
            <a:r>
              <a:rPr lang="en-US" sz="1599">
                <a:solidFill>
                  <a:srgbClr val="52625F"/>
                </a:solidFill>
                <a:latin typeface="Calibri (MS)"/>
                <a:ea typeface="Calibri (MS)"/>
                <a:cs typeface="Calibri (MS)"/>
                <a:sym typeface="Calibri (MS)"/>
              </a:rPr>
              <a:t>10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6887060" y="1780370"/>
            <a:ext cx="5879919" cy="3067377"/>
            <a:chOff x="0" y="0"/>
            <a:chExt cx="5688330" cy="2967431"/>
          </a:xfrm>
        </p:grpSpPr>
        <p:sp>
          <p:nvSpPr>
            <p:cNvPr name="Freeform 34" id="34" descr="E09-terraform-plan.png"/>
            <p:cNvSpPr/>
            <p:nvPr/>
          </p:nvSpPr>
          <p:spPr>
            <a:xfrm flipH="false" flipV="false" rot="0">
              <a:off x="0" y="0"/>
              <a:ext cx="5688330" cy="2967482"/>
            </a:xfrm>
            <a:custGeom>
              <a:avLst/>
              <a:gdLst/>
              <a:ahLst/>
              <a:cxnLst/>
              <a:rect r="r" b="b" t="t" l="l"/>
              <a:pathLst>
                <a:path h="2967482" w="5688330">
                  <a:moveTo>
                    <a:pt x="0" y="0"/>
                  </a:moveTo>
                  <a:lnTo>
                    <a:pt x="5688330" y="0"/>
                  </a:lnTo>
                  <a:lnTo>
                    <a:pt x="5688330" y="2967482"/>
                  </a:lnTo>
                  <a:lnTo>
                    <a:pt x="0" y="29674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54" t="0" r="-154" b="1"/>
              </a:stretch>
            </a:blip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7454627" y="4896126"/>
            <a:ext cx="4251960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99"/>
              </a:lnSpc>
            </a:pPr>
            <a:r>
              <a:rPr lang="en-US" sz="1749">
                <a:solidFill>
                  <a:srgbClr val="5B6B70"/>
                </a:solidFill>
                <a:latin typeface="Calibri (MS)"/>
                <a:ea typeface="Calibri (MS)"/>
                <a:cs typeface="Calibri (MS)"/>
                <a:sym typeface="Calibri (MS)"/>
              </a:rPr>
              <a:t>terraform plan: 16 to add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2832951" y="1780370"/>
            <a:ext cx="5735599" cy="3067377"/>
            <a:chOff x="0" y="0"/>
            <a:chExt cx="5688330" cy="3042098"/>
          </a:xfrm>
        </p:grpSpPr>
        <p:sp>
          <p:nvSpPr>
            <p:cNvPr name="Freeform 37" id="37" descr="E12-terraform-destroy.png"/>
            <p:cNvSpPr/>
            <p:nvPr/>
          </p:nvSpPr>
          <p:spPr>
            <a:xfrm flipH="false" flipV="false" rot="0">
              <a:off x="0" y="0"/>
              <a:ext cx="5688330" cy="3042046"/>
            </a:xfrm>
            <a:custGeom>
              <a:avLst/>
              <a:gdLst/>
              <a:ahLst/>
              <a:cxnLst/>
              <a:rect r="r" b="b" t="t" l="l"/>
              <a:pathLst>
                <a:path h="3042046" w="5688330">
                  <a:moveTo>
                    <a:pt x="0" y="0"/>
                  </a:moveTo>
                  <a:lnTo>
                    <a:pt x="5688330" y="0"/>
                  </a:lnTo>
                  <a:lnTo>
                    <a:pt x="5688330" y="3042046"/>
                  </a:lnTo>
                  <a:lnTo>
                    <a:pt x="0" y="30420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2522" b="0"/>
              </a:stretch>
            </a:blip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13599306" y="4874082"/>
            <a:ext cx="4251960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99"/>
              </a:lnSpc>
            </a:pPr>
            <a:r>
              <a:rPr lang="en-US" sz="1749">
                <a:solidFill>
                  <a:srgbClr val="5B6B70"/>
                </a:solidFill>
                <a:latin typeface="Calibri (MS)"/>
                <a:ea typeface="Calibri (MS)"/>
                <a:cs typeface="Calibri (MS)"/>
                <a:sym typeface="Calibri (MS)"/>
              </a:rPr>
              <a:t>terraform destroy: 16 destroyed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6887060" y="5351094"/>
            <a:ext cx="5879919" cy="2771163"/>
            <a:chOff x="0" y="0"/>
            <a:chExt cx="5688330" cy="2680868"/>
          </a:xfrm>
        </p:grpSpPr>
        <p:sp>
          <p:nvSpPr>
            <p:cNvPr name="Freeform 40" id="40" descr="E10-aws-vpc.png"/>
            <p:cNvSpPr/>
            <p:nvPr/>
          </p:nvSpPr>
          <p:spPr>
            <a:xfrm flipH="false" flipV="false" rot="0">
              <a:off x="0" y="0"/>
              <a:ext cx="5688330" cy="2680843"/>
            </a:xfrm>
            <a:custGeom>
              <a:avLst/>
              <a:gdLst/>
              <a:ahLst/>
              <a:cxnLst/>
              <a:rect r="r" b="b" t="t" l="l"/>
              <a:pathLst>
                <a:path h="2680843" w="5688330">
                  <a:moveTo>
                    <a:pt x="0" y="0"/>
                  </a:moveTo>
                  <a:lnTo>
                    <a:pt x="5688330" y="0"/>
                  </a:lnTo>
                  <a:lnTo>
                    <a:pt x="5688330" y="2680843"/>
                  </a:lnTo>
                  <a:lnTo>
                    <a:pt x="0" y="26808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89" t="0" r="-189" b="0"/>
              </a:stretch>
            </a:blip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7578452" y="8179407"/>
            <a:ext cx="4251960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99"/>
              </a:lnSpc>
            </a:pPr>
            <a:r>
              <a:rPr lang="en-US" sz="1749">
                <a:solidFill>
                  <a:srgbClr val="5B6B70"/>
                </a:solidFill>
                <a:latin typeface="Calibri (MS)"/>
                <a:ea typeface="Calibri (MS)"/>
                <a:cs typeface="Calibri (MS)"/>
                <a:sym typeface="Calibri (MS)"/>
              </a:rPr>
              <a:t>shelflife-vpc, 10.42.0.0/16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12832951" y="5337391"/>
            <a:ext cx="5883796" cy="2784866"/>
            <a:chOff x="0" y="0"/>
            <a:chExt cx="5688330" cy="2692349"/>
          </a:xfrm>
        </p:grpSpPr>
        <p:sp>
          <p:nvSpPr>
            <p:cNvPr name="Freeform 43" id="43" descr="E11-aws-eks.png"/>
            <p:cNvSpPr/>
            <p:nvPr/>
          </p:nvSpPr>
          <p:spPr>
            <a:xfrm flipH="false" flipV="false" rot="0">
              <a:off x="0" y="0"/>
              <a:ext cx="5688330" cy="2692400"/>
            </a:xfrm>
            <a:custGeom>
              <a:avLst/>
              <a:gdLst/>
              <a:ahLst/>
              <a:cxnLst/>
              <a:rect r="r" b="b" t="t" l="l"/>
              <a:pathLst>
                <a:path h="2692400" w="5688330">
                  <a:moveTo>
                    <a:pt x="0" y="0"/>
                  </a:moveTo>
                  <a:lnTo>
                    <a:pt x="5688330" y="0"/>
                  </a:lnTo>
                  <a:lnTo>
                    <a:pt x="5688330" y="2692400"/>
                  </a:lnTo>
                  <a:lnTo>
                    <a:pt x="0" y="269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87" t="0" r="-187" b="1"/>
              </a:stretch>
            </a:blip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13648870" y="8179407"/>
            <a:ext cx="4251960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99"/>
              </a:lnSpc>
            </a:pPr>
            <a:r>
              <a:rPr lang="en-US" sz="1749">
                <a:solidFill>
                  <a:srgbClr val="5B6B70"/>
                </a:solidFill>
                <a:latin typeface="Calibri (MS)"/>
                <a:ea typeface="Calibri (MS)"/>
                <a:cs typeface="Calibri (MS)"/>
                <a:sym typeface="Calibri (MS)"/>
              </a:rPr>
              <a:t>EKS node group shelflife-nodes Active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699">
                  <a:solidFill>
                    <a:srgbClr val="52625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ShelfLife DevOps capstone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84785"/>
            <a:ext cx="16596360" cy="1165860"/>
            <a:chOff x="0" y="0"/>
            <a:chExt cx="22128480" cy="15544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7375" r="0" b="-22737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128480" cy="1564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5400" b="true">
                  <a:solidFill>
                    <a:srgbClr val="1F2A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AWS evidence: apply, subnets, nodes, teardown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6824960" y="9608820"/>
            <a:ext cx="64008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52625F"/>
                </a:solidFill>
                <a:latin typeface="Calibri (MS)"/>
                <a:ea typeface="Calibri (MS)"/>
                <a:cs typeface="Calibri (MS)"/>
                <a:sym typeface="Calibri (MS)"/>
              </a:rPr>
              <a:t>11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24851" y="1645920"/>
            <a:ext cx="8614363" cy="4528193"/>
            <a:chOff x="0" y="0"/>
            <a:chExt cx="10021202" cy="5267706"/>
          </a:xfrm>
        </p:grpSpPr>
        <p:sp>
          <p:nvSpPr>
            <p:cNvPr name="Freeform 10" id="10" descr="E09-terraform-apply.png"/>
            <p:cNvSpPr/>
            <p:nvPr/>
          </p:nvSpPr>
          <p:spPr>
            <a:xfrm flipH="false" flipV="false" rot="0">
              <a:off x="0" y="0"/>
              <a:ext cx="10021189" cy="5267706"/>
            </a:xfrm>
            <a:custGeom>
              <a:avLst/>
              <a:gdLst/>
              <a:ahLst/>
              <a:cxnLst/>
              <a:rect r="r" b="b" t="t" l="l"/>
              <a:pathLst>
                <a:path h="5267706" w="10021189">
                  <a:moveTo>
                    <a:pt x="0" y="0"/>
                  </a:moveTo>
                  <a:lnTo>
                    <a:pt x="10021189" y="0"/>
                  </a:lnTo>
                  <a:lnTo>
                    <a:pt x="10021189" y="5267706"/>
                  </a:lnTo>
                  <a:lnTo>
                    <a:pt x="0" y="52677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86" t="0" r="-86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-177300" y="6233345"/>
            <a:ext cx="8161020" cy="467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>
                <a:solidFill>
                  <a:srgbClr val="5B6B70"/>
                </a:solidFill>
                <a:latin typeface="Calibri (MS)"/>
                <a:ea typeface="Calibri (MS)"/>
                <a:cs typeface="Calibri (MS)"/>
                <a:sym typeface="Calibri (MS)"/>
              </a:rPr>
              <a:t>terraform apply: 16 added, outputs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762087" y="1645920"/>
            <a:ext cx="9520112" cy="4528193"/>
            <a:chOff x="0" y="0"/>
            <a:chExt cx="10900410" cy="5184724"/>
          </a:xfrm>
        </p:grpSpPr>
        <p:sp>
          <p:nvSpPr>
            <p:cNvPr name="Freeform 13" id="13" descr="E10-aws-subnets.png"/>
            <p:cNvSpPr/>
            <p:nvPr/>
          </p:nvSpPr>
          <p:spPr>
            <a:xfrm flipH="false" flipV="false" rot="0">
              <a:off x="0" y="0"/>
              <a:ext cx="10900410" cy="5184775"/>
            </a:xfrm>
            <a:custGeom>
              <a:avLst/>
              <a:gdLst/>
              <a:ahLst/>
              <a:cxnLst/>
              <a:rect r="r" b="b" t="t" l="l"/>
              <a:pathLst>
                <a:path h="5184775" w="10900410">
                  <a:moveTo>
                    <a:pt x="0" y="0"/>
                  </a:moveTo>
                  <a:lnTo>
                    <a:pt x="10900410" y="0"/>
                  </a:lnTo>
                  <a:lnTo>
                    <a:pt x="10900410" y="5184775"/>
                  </a:lnTo>
                  <a:lnTo>
                    <a:pt x="0" y="51847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96" t="0" r="-96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981892" y="6233345"/>
            <a:ext cx="8161020" cy="467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>
                <a:solidFill>
                  <a:srgbClr val="5B6B70"/>
                </a:solidFill>
                <a:latin typeface="Calibri (MS)"/>
                <a:ea typeface="Calibri (MS)"/>
                <a:cs typeface="Calibri (MS)"/>
                <a:sym typeface="Calibri (MS)"/>
              </a:rPr>
              <a:t>Two public subnets in ap-south-1a and ap-south-1b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24851" y="7092439"/>
            <a:ext cx="8614363" cy="911278"/>
            <a:chOff x="0" y="0"/>
            <a:chExt cx="10900410" cy="1153109"/>
          </a:xfrm>
        </p:grpSpPr>
        <p:sp>
          <p:nvSpPr>
            <p:cNvPr name="Freeform 16" id="16" descr="E11-aws-eks-nodes.png"/>
            <p:cNvSpPr/>
            <p:nvPr/>
          </p:nvSpPr>
          <p:spPr>
            <a:xfrm flipH="false" flipV="false" rot="0">
              <a:off x="0" y="0"/>
              <a:ext cx="10900410" cy="1153160"/>
            </a:xfrm>
            <a:custGeom>
              <a:avLst/>
              <a:gdLst/>
              <a:ahLst/>
              <a:cxnLst/>
              <a:rect r="r" b="b" t="t" l="l"/>
              <a:pathLst>
                <a:path h="1153160" w="10900410">
                  <a:moveTo>
                    <a:pt x="0" y="0"/>
                  </a:moveTo>
                  <a:lnTo>
                    <a:pt x="10900410" y="0"/>
                  </a:lnTo>
                  <a:lnTo>
                    <a:pt x="10900410" y="1153160"/>
                  </a:lnTo>
                  <a:lnTo>
                    <a:pt x="0" y="1153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751" t="0" r="-750" b="4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-177300" y="8079917"/>
            <a:ext cx="8161020" cy="467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>
                <a:solidFill>
                  <a:srgbClr val="5B6B70"/>
                </a:solidFill>
                <a:latin typeface="Calibri (MS)"/>
                <a:ea typeface="Calibri (MS)"/>
                <a:cs typeface="Calibri (MS)"/>
                <a:sym typeface="Calibri (MS)"/>
              </a:rPr>
              <a:t>kubectl get nodes on EKS: 2 nodes Ready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762087" y="6935253"/>
            <a:ext cx="9525913" cy="1836194"/>
            <a:chOff x="0" y="0"/>
            <a:chExt cx="10900410" cy="2101139"/>
          </a:xfrm>
        </p:grpSpPr>
        <p:sp>
          <p:nvSpPr>
            <p:cNvPr name="Freeform 19" id="19" descr="E12-aws-leftovers-check.png"/>
            <p:cNvSpPr/>
            <p:nvPr/>
          </p:nvSpPr>
          <p:spPr>
            <a:xfrm flipH="false" flipV="false" rot="0">
              <a:off x="0" y="0"/>
              <a:ext cx="10900410" cy="2101088"/>
            </a:xfrm>
            <a:custGeom>
              <a:avLst/>
              <a:gdLst/>
              <a:ahLst/>
              <a:cxnLst/>
              <a:rect r="r" b="b" t="t" l="l"/>
              <a:pathLst>
                <a:path h="2101088" w="10900410">
                  <a:moveTo>
                    <a:pt x="0" y="0"/>
                  </a:moveTo>
                  <a:lnTo>
                    <a:pt x="10900410" y="0"/>
                  </a:lnTo>
                  <a:lnTo>
                    <a:pt x="10900410" y="2101088"/>
                  </a:lnTo>
                  <a:lnTo>
                    <a:pt x="0" y="21010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369" t="0" r="-369" b="-2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126980" y="8857171"/>
            <a:ext cx="8161020" cy="467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>
                <a:solidFill>
                  <a:srgbClr val="5B6B70"/>
                </a:solidFill>
                <a:latin typeface="Calibri (MS)"/>
                <a:ea typeface="Calibri (MS)"/>
                <a:cs typeface="Calibri (MS)"/>
                <a:sym typeface="Calibri (MS)"/>
              </a:rPr>
              <a:t>scripts/aws-check-leftovers.sh: no leftovers after destroy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52625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ShelfLife DevOps capstone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48640" y="135988"/>
            <a:ext cx="16596360" cy="1165860"/>
            <a:chOff x="0" y="0"/>
            <a:chExt cx="22128480" cy="15544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7375" r="0" b="-22737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128480" cy="1564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5400" b="true">
                  <a:solidFill>
                    <a:srgbClr val="1F2A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Kubernetes and Helm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548640" y="6305550"/>
            <a:ext cx="8418291" cy="295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9097" indent="-194548" lvl="1">
              <a:lnSpc>
                <a:spcPts val="2580"/>
              </a:lnSpc>
              <a:buFont typeface="Arial"/>
              <a:buChar char="•"/>
            </a:pPr>
            <a:r>
              <a:rPr lang="en-US" sz="2150">
                <a:solidFill>
                  <a:srgbClr val="1F2A2E"/>
                </a:solidFill>
                <a:latin typeface="Calibri (MS)"/>
                <a:ea typeface="Calibri (MS)"/>
                <a:cs typeface="Calibri (MS)"/>
                <a:sym typeface="Calibri (MS)"/>
              </a:rPr>
              <a:t>k8s/namespace.yaml creates the shelflife and shelflife-gitops namespaces</a:t>
            </a:r>
          </a:p>
          <a:p>
            <a:pPr algn="l" marL="389097" indent="-194548" lvl="1">
              <a:lnSpc>
                <a:spcPts val="2580"/>
              </a:lnSpc>
              <a:buFont typeface="Arial"/>
              <a:buChar char="•"/>
            </a:pPr>
            <a:r>
              <a:rPr lang="en-US" sz="2150">
                <a:solidFill>
                  <a:srgbClr val="1F2A2E"/>
                </a:solidFill>
                <a:latin typeface="Calibri (MS)"/>
                <a:ea typeface="Calibri (MS)"/>
                <a:cs typeface="Calibri (MS)"/>
                <a:sym typeface="Calibri (MS)"/>
              </a:rPr>
              <a:t>helm upgrade --install deploys 2 backend + 2 frontend pods and PostgreSQL</a:t>
            </a:r>
          </a:p>
          <a:p>
            <a:pPr algn="l" marL="389097" indent="-194548" lvl="1">
              <a:lnSpc>
                <a:spcPts val="2580"/>
              </a:lnSpc>
              <a:buFont typeface="Arial"/>
              <a:buChar char="•"/>
            </a:pPr>
            <a:r>
              <a:rPr lang="en-US" sz="2150">
                <a:solidFill>
                  <a:srgbClr val="1F2A2E"/>
                </a:solidFill>
                <a:latin typeface="Calibri (MS)"/>
                <a:ea typeface="Calibri (MS)"/>
                <a:cs typeface="Calibri (MS)"/>
                <a:sym typeface="Calibri (MS)"/>
              </a:rPr>
              <a:t>ClusterIP Services; Ingress routes / to frontend and /api to backend</a:t>
            </a:r>
          </a:p>
          <a:p>
            <a:pPr algn="l" marL="389097" indent="-194548" lvl="1">
              <a:lnSpc>
                <a:spcPts val="2580"/>
              </a:lnSpc>
              <a:buFont typeface="Arial"/>
              <a:buChar char="•"/>
            </a:pPr>
            <a:r>
              <a:rPr lang="en-US" sz="2150">
                <a:solidFill>
                  <a:srgbClr val="1F2A2E"/>
                </a:solidFill>
                <a:latin typeface="Calibri (MS)"/>
                <a:ea typeface="Calibri (MS)"/>
                <a:cs typeface="Calibri (MS)"/>
                <a:sym typeface="Calibri (MS)"/>
              </a:rPr>
              <a:t>Probes, non-root, read-only filesystem, PodDisruptionBudgets, helm test</a:t>
            </a:r>
          </a:p>
          <a:p>
            <a:pPr algn="l" marL="389097" indent="-194548" lvl="1">
              <a:lnSpc>
                <a:spcPts val="2580"/>
              </a:lnSpc>
              <a:buFont typeface="Arial"/>
              <a:buChar char="•"/>
            </a:pPr>
            <a:r>
              <a:rPr lang="en-US" sz="2150">
                <a:solidFill>
                  <a:srgbClr val="1F2A2E"/>
                </a:solidFill>
                <a:latin typeface="Calibri (MS)"/>
                <a:ea typeface="Calibri (MS)"/>
                <a:cs typeface="Calibri (MS)"/>
                <a:sym typeface="Calibri (MS)"/>
              </a:rPr>
              <a:t>Image tags are required values: the chart refuses to render without a SHA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824960" y="9608820"/>
            <a:ext cx="64008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52625F"/>
                </a:solidFill>
                <a:latin typeface="Calibri (MS)"/>
                <a:ea typeface="Calibri (MS)"/>
                <a:cs typeface="Calibri (MS)"/>
                <a:sym typeface="Calibri (MS)"/>
              </a:rPr>
              <a:t>12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555784" y="1385515"/>
            <a:ext cx="10252850" cy="2242100"/>
            <a:chOff x="0" y="0"/>
            <a:chExt cx="10049742" cy="2197684"/>
          </a:xfrm>
        </p:grpSpPr>
        <p:sp>
          <p:nvSpPr>
            <p:cNvPr name="Freeform 11" id="11" descr="E13-kubernetes-resources.png"/>
            <p:cNvSpPr/>
            <p:nvPr/>
          </p:nvSpPr>
          <p:spPr>
            <a:xfrm flipH="false" flipV="false" rot="0">
              <a:off x="0" y="0"/>
              <a:ext cx="10049742" cy="2197735"/>
            </a:xfrm>
            <a:custGeom>
              <a:avLst/>
              <a:gdLst/>
              <a:ahLst/>
              <a:cxnLst/>
              <a:rect r="r" b="b" t="t" l="l"/>
              <a:pathLst>
                <a:path h="2197735" w="10049742">
                  <a:moveTo>
                    <a:pt x="0" y="0"/>
                  </a:moveTo>
                  <a:lnTo>
                    <a:pt x="10049742" y="0"/>
                  </a:lnTo>
                  <a:lnTo>
                    <a:pt x="10049742" y="2197735"/>
                  </a:lnTo>
                  <a:lnTo>
                    <a:pt x="0" y="21977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" r="-2483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548640" y="3772959"/>
            <a:ext cx="10259994" cy="935949"/>
            <a:chOff x="0" y="0"/>
            <a:chExt cx="10303740" cy="939940"/>
          </a:xfrm>
        </p:grpSpPr>
        <p:sp>
          <p:nvSpPr>
            <p:cNvPr name="Freeform 13" id="13" descr="E14-kubernetes-services.png"/>
            <p:cNvSpPr/>
            <p:nvPr/>
          </p:nvSpPr>
          <p:spPr>
            <a:xfrm flipH="false" flipV="false" rot="0">
              <a:off x="0" y="0"/>
              <a:ext cx="10303740" cy="939927"/>
            </a:xfrm>
            <a:custGeom>
              <a:avLst/>
              <a:gdLst/>
              <a:ahLst/>
              <a:cxnLst/>
              <a:rect r="r" b="b" t="t" l="l"/>
              <a:pathLst>
                <a:path h="939927" w="10303740">
                  <a:moveTo>
                    <a:pt x="0" y="0"/>
                  </a:moveTo>
                  <a:lnTo>
                    <a:pt x="10303740" y="0"/>
                  </a:lnTo>
                  <a:lnTo>
                    <a:pt x="10303740" y="939927"/>
                  </a:lnTo>
                  <a:lnTo>
                    <a:pt x="0" y="9399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23189" b="-1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55784" y="4877821"/>
            <a:ext cx="10252850" cy="663443"/>
            <a:chOff x="0" y="0"/>
            <a:chExt cx="10374416" cy="671309"/>
          </a:xfrm>
        </p:grpSpPr>
        <p:sp>
          <p:nvSpPr>
            <p:cNvPr name="Freeform 15" id="15" descr="E15-helm-release.png"/>
            <p:cNvSpPr/>
            <p:nvPr/>
          </p:nvSpPr>
          <p:spPr>
            <a:xfrm flipH="false" flipV="false" rot="0">
              <a:off x="0" y="0"/>
              <a:ext cx="10374416" cy="671322"/>
            </a:xfrm>
            <a:custGeom>
              <a:avLst/>
              <a:gdLst/>
              <a:ahLst/>
              <a:cxnLst/>
              <a:rect r="r" b="b" t="t" l="l"/>
              <a:pathLst>
                <a:path h="671322" w="10374416">
                  <a:moveTo>
                    <a:pt x="0" y="0"/>
                  </a:moveTo>
                  <a:lnTo>
                    <a:pt x="10374416" y="0"/>
                  </a:lnTo>
                  <a:lnTo>
                    <a:pt x="10374416" y="671322"/>
                  </a:lnTo>
                  <a:lnTo>
                    <a:pt x="0" y="6713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1687" t="-1" r="-11687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910422" y="5579364"/>
            <a:ext cx="9326880" cy="467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>
                <a:solidFill>
                  <a:srgbClr val="5B6B70"/>
                </a:solidFill>
                <a:latin typeface="Calibri (MS)"/>
                <a:ea typeface="Calibri (MS)"/>
                <a:cs typeface="Calibri (MS)"/>
                <a:sym typeface="Calibri (MS)"/>
              </a:rPr>
              <a:t>kind cluster: pods Running, ClusterIP services, Ingress, helm list (deployed)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358494" y="4246784"/>
            <a:ext cx="8929506" cy="4561512"/>
            <a:chOff x="0" y="0"/>
            <a:chExt cx="6910921" cy="3530346"/>
          </a:xfrm>
        </p:grpSpPr>
        <p:sp>
          <p:nvSpPr>
            <p:cNvPr name="Freeform 18" id="18" descr="E16-app-via-ingress.png"/>
            <p:cNvSpPr/>
            <p:nvPr/>
          </p:nvSpPr>
          <p:spPr>
            <a:xfrm flipH="false" flipV="false" rot="0">
              <a:off x="0" y="0"/>
              <a:ext cx="6910959" cy="3530346"/>
            </a:xfrm>
            <a:custGeom>
              <a:avLst/>
              <a:gdLst/>
              <a:ahLst/>
              <a:cxnLst/>
              <a:rect r="r" b="b" t="t" l="l"/>
              <a:pathLst>
                <a:path h="3530346" w="6910959">
                  <a:moveTo>
                    <a:pt x="0" y="0"/>
                  </a:moveTo>
                  <a:lnTo>
                    <a:pt x="6910959" y="0"/>
                  </a:lnTo>
                  <a:lnTo>
                    <a:pt x="6910959" y="3530346"/>
                  </a:lnTo>
                  <a:lnTo>
                    <a:pt x="0" y="3530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32" t="0" r="-132" b="0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9994713" y="8951170"/>
            <a:ext cx="9326880" cy="467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>
                <a:solidFill>
                  <a:srgbClr val="5B6B70"/>
                </a:solidFill>
                <a:latin typeface="Calibri (MS)"/>
                <a:ea typeface="Calibri (MS)"/>
                <a:cs typeface="Calibri (MS)"/>
                <a:sym typeface="Calibri (MS)"/>
              </a:rPr>
              <a:t>http://shelflife.localtest.me:8088 through the Traefik Ingress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699">
                  <a:solidFill>
                    <a:srgbClr val="52625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ShelfLife DevOps capstone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480060"/>
            <a:ext cx="16596360" cy="1165860"/>
            <a:chOff x="0" y="0"/>
            <a:chExt cx="22128480" cy="15544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7375" r="0" b="-22737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128480" cy="1564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5400" b="true">
                  <a:solidFill>
                    <a:srgbClr val="1F2A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GitOps with Argo CD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13435" y="2185035"/>
            <a:ext cx="3173730" cy="1390650"/>
            <a:chOff x="0" y="0"/>
            <a:chExt cx="4231640" cy="1854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231640" cy="1854200"/>
            </a:xfrm>
            <a:custGeom>
              <a:avLst/>
              <a:gdLst/>
              <a:ahLst/>
              <a:cxnLst/>
              <a:rect r="r" b="b" t="t" l="l"/>
              <a:pathLst>
                <a:path h="1854200" w="4231640">
                  <a:moveTo>
                    <a:pt x="0" y="148336"/>
                  </a:moveTo>
                  <a:cubicBezTo>
                    <a:pt x="0" y="66421"/>
                    <a:pt x="66421" y="0"/>
                    <a:pt x="148336" y="0"/>
                  </a:cubicBezTo>
                  <a:lnTo>
                    <a:pt x="4083304" y="0"/>
                  </a:lnTo>
                  <a:cubicBezTo>
                    <a:pt x="4165219" y="0"/>
                    <a:pt x="4231640" y="66421"/>
                    <a:pt x="4231640" y="148336"/>
                  </a:cubicBezTo>
                  <a:lnTo>
                    <a:pt x="4231640" y="1705864"/>
                  </a:lnTo>
                  <a:cubicBezTo>
                    <a:pt x="4231640" y="1787779"/>
                    <a:pt x="4165219" y="1854200"/>
                    <a:pt x="4083304" y="1854200"/>
                  </a:cubicBezTo>
                  <a:lnTo>
                    <a:pt x="148336" y="1854200"/>
                  </a:lnTo>
                  <a:cubicBezTo>
                    <a:pt x="66421" y="1854200"/>
                    <a:pt x="0" y="1787779"/>
                    <a:pt x="0" y="1705864"/>
                  </a:cubicBezTo>
                  <a:close/>
                </a:path>
              </a:pathLst>
            </a:custGeom>
            <a:solidFill>
              <a:srgbClr val="1F2A2E"/>
            </a:solidFill>
            <a:ln w="19050" cap="sq">
              <a:solidFill>
                <a:srgbClr val="1F2A2E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822960" y="2194560"/>
            <a:ext cx="3154680" cy="1371600"/>
            <a:chOff x="0" y="0"/>
            <a:chExt cx="4206240" cy="1828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206240" cy="1828800"/>
            </a:xfrm>
            <a:custGeom>
              <a:avLst/>
              <a:gdLst/>
              <a:ahLst/>
              <a:cxnLst/>
              <a:rect r="r" b="b" t="t" l="l"/>
              <a:pathLst>
                <a:path h="182880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784" t="0" r="-5784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4206240" cy="1885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git push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516755" y="2185035"/>
            <a:ext cx="3173730" cy="1390650"/>
            <a:chOff x="0" y="0"/>
            <a:chExt cx="4231640" cy="1854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231640" cy="1854200"/>
            </a:xfrm>
            <a:custGeom>
              <a:avLst/>
              <a:gdLst/>
              <a:ahLst/>
              <a:cxnLst/>
              <a:rect r="r" b="b" t="t" l="l"/>
              <a:pathLst>
                <a:path h="1854200" w="4231640">
                  <a:moveTo>
                    <a:pt x="0" y="148336"/>
                  </a:moveTo>
                  <a:cubicBezTo>
                    <a:pt x="0" y="66421"/>
                    <a:pt x="66421" y="0"/>
                    <a:pt x="148336" y="0"/>
                  </a:cubicBezTo>
                  <a:lnTo>
                    <a:pt x="4083304" y="0"/>
                  </a:lnTo>
                  <a:cubicBezTo>
                    <a:pt x="4165219" y="0"/>
                    <a:pt x="4231640" y="66421"/>
                    <a:pt x="4231640" y="148336"/>
                  </a:cubicBezTo>
                  <a:lnTo>
                    <a:pt x="4231640" y="1705864"/>
                  </a:lnTo>
                  <a:cubicBezTo>
                    <a:pt x="4231640" y="1787779"/>
                    <a:pt x="4165219" y="1854200"/>
                    <a:pt x="4083304" y="1854200"/>
                  </a:cubicBezTo>
                  <a:lnTo>
                    <a:pt x="148336" y="1854200"/>
                  </a:lnTo>
                  <a:cubicBezTo>
                    <a:pt x="66421" y="1854200"/>
                    <a:pt x="0" y="1787779"/>
                    <a:pt x="0" y="1705864"/>
                  </a:cubicBezTo>
                  <a:close/>
                </a:path>
              </a:pathLst>
            </a:custGeom>
            <a:solidFill>
              <a:srgbClr val="2F7D5B"/>
            </a:solidFill>
            <a:ln w="19050" cap="sq">
              <a:solidFill>
                <a:srgbClr val="2F7D5B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4526280" y="2194560"/>
            <a:ext cx="3154680" cy="1371600"/>
            <a:chOff x="0" y="0"/>
            <a:chExt cx="4206240" cy="1828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206240" cy="1828800"/>
            </a:xfrm>
            <a:custGeom>
              <a:avLst/>
              <a:gdLst/>
              <a:ahLst/>
              <a:cxnLst/>
              <a:rect r="r" b="b" t="t" l="l"/>
              <a:pathLst>
                <a:path h="182880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784" t="0" r="-5784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4206240" cy="1885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CI builds and scans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516755" y="4516755"/>
            <a:ext cx="3173730" cy="1527810"/>
            <a:chOff x="0" y="0"/>
            <a:chExt cx="4231640" cy="20370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231640" cy="2037080"/>
            </a:xfrm>
            <a:custGeom>
              <a:avLst/>
              <a:gdLst/>
              <a:ahLst/>
              <a:cxnLst/>
              <a:rect r="r" b="b" t="t" l="l"/>
              <a:pathLst>
                <a:path h="2037080" w="4231640">
                  <a:moveTo>
                    <a:pt x="0" y="148209"/>
                  </a:moveTo>
                  <a:cubicBezTo>
                    <a:pt x="0" y="66294"/>
                    <a:pt x="66294" y="0"/>
                    <a:pt x="148209" y="0"/>
                  </a:cubicBezTo>
                  <a:lnTo>
                    <a:pt x="4083431" y="0"/>
                  </a:lnTo>
                  <a:cubicBezTo>
                    <a:pt x="4165219" y="0"/>
                    <a:pt x="4231640" y="66294"/>
                    <a:pt x="4231640" y="148209"/>
                  </a:cubicBezTo>
                  <a:lnTo>
                    <a:pt x="4231640" y="1888871"/>
                  </a:lnTo>
                  <a:cubicBezTo>
                    <a:pt x="4231640" y="1970659"/>
                    <a:pt x="4165346" y="2037080"/>
                    <a:pt x="4083431" y="2037080"/>
                  </a:cubicBezTo>
                  <a:lnTo>
                    <a:pt x="148209" y="2037080"/>
                  </a:lnTo>
                  <a:cubicBezTo>
                    <a:pt x="66294" y="2037080"/>
                    <a:pt x="0" y="1970786"/>
                    <a:pt x="0" y="1888871"/>
                  </a:cubicBezTo>
                  <a:close/>
                </a:path>
              </a:pathLst>
            </a:custGeom>
            <a:solidFill>
              <a:srgbClr val="E8A317"/>
            </a:solidFill>
            <a:ln w="19050" cap="sq">
              <a:solidFill>
                <a:srgbClr val="E8A317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4526280" y="4526280"/>
            <a:ext cx="3154680" cy="1508760"/>
            <a:chOff x="0" y="0"/>
            <a:chExt cx="4206240" cy="20116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206240" cy="2011680"/>
            </a:xfrm>
            <a:custGeom>
              <a:avLst/>
              <a:gdLst/>
              <a:ahLst/>
              <a:cxnLst/>
              <a:rect r="r" b="b" t="t" l="l"/>
              <a:pathLst>
                <a:path h="201168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362" t="0" r="-11362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4206240" cy="20688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1F2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Commit SHA to values-gitops.yaml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13435" y="4516755"/>
            <a:ext cx="3173730" cy="1527810"/>
            <a:chOff x="0" y="0"/>
            <a:chExt cx="4231640" cy="20370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231640" cy="2037080"/>
            </a:xfrm>
            <a:custGeom>
              <a:avLst/>
              <a:gdLst/>
              <a:ahLst/>
              <a:cxnLst/>
              <a:rect r="r" b="b" t="t" l="l"/>
              <a:pathLst>
                <a:path h="2037080" w="4231640">
                  <a:moveTo>
                    <a:pt x="0" y="148209"/>
                  </a:moveTo>
                  <a:cubicBezTo>
                    <a:pt x="0" y="66294"/>
                    <a:pt x="66294" y="0"/>
                    <a:pt x="148209" y="0"/>
                  </a:cubicBezTo>
                  <a:lnTo>
                    <a:pt x="4083431" y="0"/>
                  </a:lnTo>
                  <a:cubicBezTo>
                    <a:pt x="4165219" y="0"/>
                    <a:pt x="4231640" y="66294"/>
                    <a:pt x="4231640" y="148209"/>
                  </a:cubicBezTo>
                  <a:lnTo>
                    <a:pt x="4231640" y="1888871"/>
                  </a:lnTo>
                  <a:cubicBezTo>
                    <a:pt x="4231640" y="1970659"/>
                    <a:pt x="4165346" y="2037080"/>
                    <a:pt x="4083431" y="2037080"/>
                  </a:cubicBezTo>
                  <a:lnTo>
                    <a:pt x="148209" y="2037080"/>
                  </a:lnTo>
                  <a:cubicBezTo>
                    <a:pt x="66294" y="2037080"/>
                    <a:pt x="0" y="1970786"/>
                    <a:pt x="0" y="1888871"/>
                  </a:cubicBezTo>
                  <a:close/>
                </a:path>
              </a:pathLst>
            </a:custGeom>
            <a:solidFill>
              <a:srgbClr val="D6453D"/>
            </a:solidFill>
            <a:ln w="19050" cap="sq">
              <a:solidFill>
                <a:srgbClr val="D6453D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822960" y="4526280"/>
            <a:ext cx="3154680" cy="1508760"/>
            <a:chOff x="0" y="0"/>
            <a:chExt cx="4206240" cy="20116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206240" cy="2011680"/>
            </a:xfrm>
            <a:custGeom>
              <a:avLst/>
              <a:gdLst/>
              <a:ahLst/>
              <a:cxnLst/>
              <a:rect r="r" b="b" t="t" l="l"/>
              <a:pathLst>
                <a:path h="201168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362" t="0" r="-11362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4206240" cy="20688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Argo CD syncs shelflife-gitops</a:t>
              </a:r>
            </a:p>
          </p:txBody>
        </p:sp>
      </p:grpSp>
      <p:sp>
        <p:nvSpPr>
          <p:cNvPr name="AutoShape 28" id="28"/>
          <p:cNvSpPr/>
          <p:nvPr/>
        </p:nvSpPr>
        <p:spPr>
          <a:xfrm rot="204780">
            <a:off x="3960457" y="2871521"/>
            <a:ext cx="583016" cy="0"/>
          </a:xfrm>
          <a:prstGeom prst="line">
            <a:avLst/>
          </a:prstGeom>
          <a:ln cap="rnd" w="19050">
            <a:solidFill>
              <a:srgbClr val="1F2A2E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9" id="29"/>
          <p:cNvSpPr/>
          <p:nvPr/>
        </p:nvSpPr>
        <p:spPr>
          <a:xfrm rot="5279940">
            <a:off x="5607272" y="4036695"/>
            <a:ext cx="994067" cy="0"/>
          </a:xfrm>
          <a:prstGeom prst="line">
            <a:avLst/>
          </a:prstGeom>
          <a:ln cap="rnd" w="19050">
            <a:solidFill>
              <a:srgbClr val="1F2A2E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0" id="30"/>
          <p:cNvSpPr/>
          <p:nvPr/>
        </p:nvSpPr>
        <p:spPr>
          <a:xfrm rot="10595220">
            <a:off x="3960457" y="5271821"/>
            <a:ext cx="583016" cy="0"/>
          </a:xfrm>
          <a:prstGeom prst="line">
            <a:avLst/>
          </a:prstGeom>
          <a:ln cap="rnd" w="19050">
            <a:solidFill>
              <a:srgbClr val="1F2A2E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31" id="31"/>
          <p:cNvSpPr txBox="true"/>
          <p:nvPr/>
        </p:nvSpPr>
        <p:spPr>
          <a:xfrm rot="0">
            <a:off x="822960" y="6526530"/>
            <a:ext cx="6858000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33454A"/>
                </a:solidFill>
                <a:latin typeface="Calibri (MS)"/>
                <a:ea typeface="Calibri (MS)"/>
                <a:cs typeface="Calibri (MS)"/>
                <a:sym typeface="Calibri (MS)"/>
              </a:rPr>
              <a:t>Git is the desired state. Automated sync with prune and self-heal: a manual kubectl change is reverted to what Git says.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6824960" y="9608820"/>
            <a:ext cx="64008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52625F"/>
                </a:solidFill>
                <a:latin typeface="Calibri (MS)"/>
                <a:ea typeface="Calibri (MS)"/>
                <a:cs typeface="Calibri (MS)"/>
                <a:sym typeface="Calibri (MS)"/>
              </a:rPr>
              <a:t>13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8085296" y="2582590"/>
            <a:ext cx="10202704" cy="5127735"/>
            <a:chOff x="0" y="0"/>
            <a:chExt cx="12454890" cy="6259652"/>
          </a:xfrm>
        </p:grpSpPr>
        <p:sp>
          <p:nvSpPr>
            <p:cNvPr name="Freeform 34" id="34" descr="E17-argocd-synced.png"/>
            <p:cNvSpPr/>
            <p:nvPr/>
          </p:nvSpPr>
          <p:spPr>
            <a:xfrm flipH="false" flipV="false" rot="0">
              <a:off x="0" y="0"/>
              <a:ext cx="12454890" cy="6259703"/>
            </a:xfrm>
            <a:custGeom>
              <a:avLst/>
              <a:gdLst/>
              <a:ahLst/>
              <a:cxnLst/>
              <a:rect r="r" b="b" t="t" l="l"/>
              <a:pathLst>
                <a:path h="6259703" w="12454890">
                  <a:moveTo>
                    <a:pt x="0" y="0"/>
                  </a:moveTo>
                  <a:lnTo>
                    <a:pt x="12454890" y="0"/>
                  </a:lnTo>
                  <a:lnTo>
                    <a:pt x="12454890" y="6259703"/>
                  </a:lnTo>
                  <a:lnTo>
                    <a:pt x="0" y="62597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5" t="0" r="-75" b="0"/>
              </a:stretch>
            </a:blip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9083040" y="7756673"/>
            <a:ext cx="9326880" cy="467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>
                <a:solidFill>
                  <a:srgbClr val="5B6B70"/>
                </a:solidFill>
                <a:latin typeface="Calibri (MS)"/>
                <a:ea typeface="Calibri (MS)"/>
                <a:cs typeface="Calibri (MS)"/>
                <a:sym typeface="Calibri (MS)"/>
              </a:rPr>
              <a:t>Argo CD: shelflife Healthy and Synced to main (18a0823), auto sync on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699">
                  <a:solidFill>
                    <a:srgbClr val="52625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ShelfLife DevOps capstone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480060"/>
            <a:ext cx="16596360" cy="1165860"/>
            <a:chOff x="0" y="0"/>
            <a:chExt cx="22128480" cy="15544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7375" r="0" b="-22737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128480" cy="1564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5400" b="true">
                  <a:solidFill>
                    <a:srgbClr val="1F2A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Observability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59605" y="2215001"/>
            <a:ext cx="6923825" cy="309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1485" indent="-230742" lvl="1">
              <a:lnSpc>
                <a:spcPts val="3059"/>
              </a:lnSpc>
              <a:buFont typeface="Arial"/>
              <a:buChar char="•"/>
            </a:pPr>
            <a:r>
              <a:rPr lang="en-US" sz="2549">
                <a:solidFill>
                  <a:srgbClr val="1F2A2E"/>
                </a:solidFill>
                <a:latin typeface="Calibri (MS)"/>
                <a:ea typeface="Calibri (MS)"/>
                <a:cs typeface="Calibri (MS)"/>
                <a:sym typeface="Calibri (MS)"/>
              </a:rPr>
              <a:t>Backend /metrics: request count, latency histogram, status class</a:t>
            </a:r>
          </a:p>
          <a:p>
            <a:pPr algn="l" marL="461485" indent="-230742" lvl="1">
              <a:lnSpc>
                <a:spcPts val="3059"/>
              </a:lnSpc>
              <a:buFont typeface="Arial"/>
              <a:buChar char="•"/>
            </a:pPr>
            <a:r>
              <a:rPr lang="en-US" sz="2549">
                <a:solidFill>
                  <a:srgbClr val="1F2A2E"/>
                </a:solidFill>
                <a:latin typeface="Calibri (MS)"/>
                <a:ea typeface="Calibri (MS)"/>
                <a:cs typeface="Calibri (MS)"/>
                <a:sym typeface="Calibri (MS)"/>
              </a:rPr>
              <a:t>Business metrics: items added, used, removed, and items by status</a:t>
            </a:r>
          </a:p>
          <a:p>
            <a:pPr algn="l" marL="461485" indent="-230742" lvl="1">
              <a:lnSpc>
                <a:spcPts val="3059"/>
              </a:lnSpc>
              <a:buFont typeface="Arial"/>
              <a:buChar char="•"/>
            </a:pPr>
            <a:r>
              <a:rPr lang="en-US" sz="2549">
                <a:solidFill>
                  <a:srgbClr val="1F2A2E"/>
                </a:solidFill>
                <a:latin typeface="Calibri (MS)"/>
                <a:ea typeface="Calibri (MS)"/>
                <a:cs typeface="Calibri (MS)"/>
                <a:sym typeface="Calibri (MS)"/>
              </a:rPr>
              <a:t>ServiceMonitor tells Prometheus to scrape both backend pods</a:t>
            </a:r>
          </a:p>
          <a:p>
            <a:pPr algn="l" marL="461485" indent="-230742" lvl="1">
              <a:lnSpc>
                <a:spcPts val="3059"/>
              </a:lnSpc>
              <a:buFont typeface="Arial"/>
              <a:buChar char="•"/>
            </a:pPr>
            <a:r>
              <a:rPr lang="en-US" sz="2549">
                <a:solidFill>
                  <a:srgbClr val="1F2A2E"/>
                </a:solidFill>
                <a:latin typeface="Calibri (MS)"/>
                <a:ea typeface="Calibri (MS)"/>
                <a:cs typeface="Calibri (MS)"/>
                <a:sym typeface="Calibri (MS)"/>
              </a:rPr>
              <a:t>The ShelfLife API dashboard is provisioned automatically in Grafana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824960" y="9608820"/>
            <a:ext cx="64008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52625F"/>
                </a:solidFill>
                <a:latin typeface="Calibri (MS)"/>
                <a:ea typeface="Calibri (MS)"/>
                <a:cs typeface="Calibri (MS)"/>
                <a:sym typeface="Calibri (MS)"/>
              </a:rPr>
              <a:t>14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0" y="6220925"/>
            <a:ext cx="7855273" cy="1995406"/>
            <a:chOff x="0" y="0"/>
            <a:chExt cx="7882890" cy="2002422"/>
          </a:xfrm>
        </p:grpSpPr>
        <p:sp>
          <p:nvSpPr>
            <p:cNvPr name="Freeform 11" id="11" descr="E18-metrics-endpoint.png"/>
            <p:cNvSpPr/>
            <p:nvPr/>
          </p:nvSpPr>
          <p:spPr>
            <a:xfrm flipH="false" flipV="false" rot="0">
              <a:off x="0" y="0"/>
              <a:ext cx="7882890" cy="2002409"/>
            </a:xfrm>
            <a:custGeom>
              <a:avLst/>
              <a:gdLst/>
              <a:ahLst/>
              <a:cxnLst/>
              <a:rect r="r" b="b" t="t" l="l"/>
              <a:pathLst>
                <a:path h="2002409" w="7882890">
                  <a:moveTo>
                    <a:pt x="0" y="0"/>
                  </a:moveTo>
                  <a:lnTo>
                    <a:pt x="7882890" y="0"/>
                  </a:lnTo>
                  <a:lnTo>
                    <a:pt x="7882890" y="2002409"/>
                  </a:lnTo>
                  <a:lnTo>
                    <a:pt x="0" y="20024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58" t="0" r="-358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459605" y="8254432"/>
            <a:ext cx="5897880" cy="467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>
                <a:solidFill>
                  <a:srgbClr val="5B6B70"/>
                </a:solidFill>
                <a:latin typeface="Calibri (MS)"/>
                <a:ea typeface="Calibri (MS)"/>
                <a:cs typeface="Calibri (MS)"/>
                <a:sym typeface="Calibri (MS)"/>
              </a:rPr>
              <a:t>curl /metrics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7986712" y="2262626"/>
            <a:ext cx="10301288" cy="5117544"/>
            <a:chOff x="0" y="0"/>
            <a:chExt cx="13735050" cy="6823392"/>
          </a:xfrm>
        </p:grpSpPr>
        <p:sp>
          <p:nvSpPr>
            <p:cNvPr name="Freeform 14" id="14" descr="E19-prometheus-targets-up.png"/>
            <p:cNvSpPr/>
            <p:nvPr/>
          </p:nvSpPr>
          <p:spPr>
            <a:xfrm flipH="false" flipV="false" rot="0">
              <a:off x="0" y="0"/>
              <a:ext cx="13735050" cy="6823329"/>
            </a:xfrm>
            <a:custGeom>
              <a:avLst/>
              <a:gdLst/>
              <a:ahLst/>
              <a:cxnLst/>
              <a:rect r="r" b="b" t="t" l="l"/>
              <a:pathLst>
                <a:path h="6823329" w="13735050">
                  <a:moveTo>
                    <a:pt x="0" y="0"/>
                  </a:moveTo>
                  <a:lnTo>
                    <a:pt x="13735050" y="0"/>
                  </a:lnTo>
                  <a:lnTo>
                    <a:pt x="13735050" y="6823329"/>
                  </a:lnTo>
                  <a:lnTo>
                    <a:pt x="0" y="68233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70" t="0" r="-70" b="0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8735359" y="7481350"/>
            <a:ext cx="10287000" cy="467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>
                <a:solidFill>
                  <a:srgbClr val="5B6B70"/>
                </a:solidFill>
                <a:latin typeface="Calibri (MS)"/>
                <a:ea typeface="Calibri (MS)"/>
                <a:cs typeface="Calibri (MS)"/>
                <a:sym typeface="Calibri (MS)"/>
              </a:rPr>
              <a:t>Prometheus targets: shelflife and shelflife-gitops backends 2/2 UP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13435" y="96012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699">
                  <a:solidFill>
                    <a:srgbClr val="52625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ShelfLife DevOps capstone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480060"/>
            <a:ext cx="16596360" cy="1165860"/>
            <a:chOff x="0" y="0"/>
            <a:chExt cx="22128480" cy="15544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7375" r="0" b="-22737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128480" cy="1564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5400" b="true">
                  <a:solidFill>
                    <a:srgbClr val="1F2A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Grafana: ShelfLife API dashboard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6824960" y="9608820"/>
            <a:ext cx="64008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52625F"/>
                </a:solidFill>
                <a:latin typeface="Calibri (MS)"/>
                <a:ea typeface="Calibri (MS)"/>
                <a:cs typeface="Calibri (MS)"/>
                <a:sym typeface="Calibri (MS)"/>
              </a:rPr>
              <a:t>15</a:t>
            </a:r>
          </a:p>
          <a:p>
            <a:pPr algn="r">
              <a:lnSpc>
                <a:spcPts val="1800"/>
              </a:lnSpc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1178985" y="1981676"/>
            <a:ext cx="15884300" cy="6762560"/>
            <a:chOff x="0" y="0"/>
            <a:chExt cx="21179066" cy="9016746"/>
          </a:xfrm>
        </p:grpSpPr>
        <p:sp>
          <p:nvSpPr>
            <p:cNvPr name="Freeform 10" id="10" descr="E20-grafana-dashboard.png"/>
            <p:cNvSpPr/>
            <p:nvPr/>
          </p:nvSpPr>
          <p:spPr>
            <a:xfrm flipH="false" flipV="false" rot="0">
              <a:off x="0" y="0"/>
              <a:ext cx="21179028" cy="9016746"/>
            </a:xfrm>
            <a:custGeom>
              <a:avLst/>
              <a:gdLst/>
              <a:ahLst/>
              <a:cxnLst/>
              <a:rect r="r" b="b" t="t" l="l"/>
              <a:pathLst>
                <a:path h="9016746" w="21179028">
                  <a:moveTo>
                    <a:pt x="0" y="0"/>
                  </a:moveTo>
                  <a:lnTo>
                    <a:pt x="21179028" y="0"/>
                  </a:lnTo>
                  <a:lnTo>
                    <a:pt x="21179028" y="9016746"/>
                  </a:lnTo>
                  <a:lnTo>
                    <a:pt x="0" y="90167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60" t="0" r="-6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822960" y="8790813"/>
            <a:ext cx="16596360" cy="467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>
                <a:solidFill>
                  <a:srgbClr val="5B6B70"/>
                </a:solidFill>
                <a:latin typeface="Calibri (MS)"/>
                <a:ea typeface="Calibri (MS)"/>
                <a:cs typeface="Calibri (MS)"/>
                <a:sym typeface="Calibri (MS)"/>
              </a:rPr>
              <a:t>2 backend pods UP, requests per second, p95 latency, requests by endpoint, pantry items by status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699">
                  <a:solidFill>
                    <a:srgbClr val="52625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ShelfLife DevOps capstone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480060"/>
            <a:ext cx="16596360" cy="1165860"/>
            <a:chOff x="0" y="0"/>
            <a:chExt cx="22128480" cy="15544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7375" r="0" b="-22737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128480" cy="1564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5400" b="true">
                  <a:solidFill>
                    <a:srgbClr val="1F2A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Alternatives and trade-offs</a:t>
              </a:r>
            </a:p>
          </p:txBody>
        </p:sp>
      </p:grp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822960" y="2057400"/>
          <a:ext cx="16592550" cy="5867400"/>
        </p:xfrm>
        <a:graphic>
          <a:graphicData uri="http://schemas.openxmlformats.org/drawingml/2006/table">
            <a:tbl>
              <a:tblPr/>
              <a:tblGrid>
                <a:gridCol w="4123548"/>
                <a:gridCol w="4259738"/>
                <a:gridCol w="8209264"/>
              </a:tblGrid>
              <a:tr h="838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Decision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Alternative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Why this choice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2E"/>
                    </a:solidFill>
                  </a:tcPr>
                </a:tc>
              </a:tr>
              <a:tr h="838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F2A2E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Public subnets, no NAT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F2A2E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Private nodes + NAT gateway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F2A2E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Lower cost for a 1 to 2 day demo; production would use private subnets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F2A2E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PostgreSQL in the cluster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F2A2E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Amazon RDS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F2A2E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Free on kind and simple to demo; RDS adds backups and HA at extra cost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F2A2E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Traefik Ingress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F2A2E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ingress-nginx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F2A2E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ingress-nginx was archived in 2026 and gets no more fixes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F2A2E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kind for K8s demos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F2A2E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EKS for everything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F2A2E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 cloud cost; EKS is used for the Terraform proof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F2A2E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GITHUB_TOKEN for GHCR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F2A2E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Personal access token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F2A2E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Short-lived, scoped to the run, nothing to leak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F2A2E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Local Terraform state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F2A2E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S3 backend with locking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F2A2E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One person, short-lived; a team needs remote state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TextBox 9" id="9"/>
          <p:cNvSpPr txBox="true"/>
          <p:nvPr/>
        </p:nvSpPr>
        <p:spPr>
          <a:xfrm rot="0">
            <a:off x="16824960" y="9608820"/>
            <a:ext cx="64008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52625F"/>
                </a:solidFill>
                <a:latin typeface="Calibri (MS)"/>
                <a:ea typeface="Calibri (MS)"/>
                <a:cs typeface="Calibri (MS)"/>
                <a:sym typeface="Calibri (MS)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699">
                  <a:solidFill>
                    <a:srgbClr val="52625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ShelfLife DevOps capstone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480060"/>
            <a:ext cx="16596360" cy="1165860"/>
            <a:chOff x="0" y="0"/>
            <a:chExt cx="22128480" cy="15544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7375" r="0" b="-22737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128480" cy="1564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5400" b="true">
                  <a:solidFill>
                    <a:srgbClr val="1F2A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Results</a:t>
              </a:r>
            </a:p>
          </p:txBody>
        </p:sp>
      </p:grp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822960" y="2057400"/>
          <a:ext cx="16573500" cy="6686550"/>
        </p:xfrm>
        <a:graphic>
          <a:graphicData uri="http://schemas.openxmlformats.org/drawingml/2006/table">
            <a:tbl>
              <a:tblPr/>
              <a:tblGrid>
                <a:gridCol w="4526916"/>
                <a:gridCol w="3166574"/>
                <a:gridCol w="8880010"/>
              </a:tblGrid>
              <a:tr h="7429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Module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D5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Evidence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D5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Status at hand-in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D5B"/>
                    </a:solidFill>
                  </a:tcPr>
                </a:tc>
              </a:tr>
              <a:tr h="7429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F2A2E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M1 App + M4 Docker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F2A2E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E01, E02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F2A2E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Done: 3 containers healthy, UI at localhost:3000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F2A2E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M2 Testing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F2A2E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E04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F2A2E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Done: 17 of 17 tests passed (pytest -v)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F2A2E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M3 Git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F2A2E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E03, E05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F2A2E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Done: public repo, 20 meaningful commits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F2A2E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M5 CI/CD + M6 Trivy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F2A2E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E06, E07, E08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F2A2E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Done: run #2 green; SHA tags in GHCR; Trivy clean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F2A2E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M7 Terraform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F2A2E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E09 to E12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F2A2E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Done: plan 16 to add, applied in ap-south-1, destroyed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F2A2E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M8 Kubernetes + Helm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F2A2E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E13 to E16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F2A2E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Done on kind: 2+2 replicas, postgres, Ingress, helm test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F2A2E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M9 Observability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F2A2E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E18 to E20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F2A2E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Done: /metrics, targets 2/2 UP, Grafana populated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F2A2E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GitOps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F2A2E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E17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F2A2E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Done: Argo CD Synced + Healthy (18a0823)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A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TextBox 9" id="9"/>
          <p:cNvSpPr txBox="true"/>
          <p:nvPr/>
        </p:nvSpPr>
        <p:spPr>
          <a:xfrm rot="0">
            <a:off x="822960" y="8945880"/>
            <a:ext cx="16596360" cy="51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i="true">
                <a:solidFill>
                  <a:srgbClr val="5B6B7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All screenshots are in demo/evidence/ and were captured from real runs on 14-15 October 2026.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824960" y="9608820"/>
            <a:ext cx="64008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52625F"/>
                </a:solidFill>
                <a:latin typeface="Calibri (MS)"/>
                <a:ea typeface="Calibri (MS)"/>
                <a:cs typeface="Calibri (MS)"/>
                <a:sym typeface="Calibri (MS)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699">
                  <a:solidFill>
                    <a:srgbClr val="52625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ShelfLife DevOps capstone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480060"/>
            <a:ext cx="16596360" cy="1165860"/>
            <a:chOff x="0" y="0"/>
            <a:chExt cx="22128480" cy="15544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7375" r="0" b="-22737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128480" cy="1564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5400" b="true">
                  <a:solidFill>
                    <a:srgbClr val="1F2A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Key learnings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13435" y="2116455"/>
            <a:ext cx="8180070" cy="3242310"/>
            <a:chOff x="0" y="0"/>
            <a:chExt cx="10906760" cy="43230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06760" cy="4323080"/>
            </a:xfrm>
            <a:custGeom>
              <a:avLst/>
              <a:gdLst/>
              <a:ahLst/>
              <a:cxnLst/>
              <a:rect r="r" b="b" t="t" l="l"/>
              <a:pathLst>
                <a:path h="4323080" w="10906760">
                  <a:moveTo>
                    <a:pt x="0" y="183896"/>
                  </a:moveTo>
                  <a:cubicBezTo>
                    <a:pt x="0" y="82296"/>
                    <a:pt x="82296" y="0"/>
                    <a:pt x="183896" y="0"/>
                  </a:cubicBezTo>
                  <a:lnTo>
                    <a:pt x="10722864" y="0"/>
                  </a:lnTo>
                  <a:cubicBezTo>
                    <a:pt x="10824464" y="0"/>
                    <a:pt x="10906760" y="82296"/>
                    <a:pt x="10906760" y="183896"/>
                  </a:cubicBezTo>
                  <a:lnTo>
                    <a:pt x="10906760" y="4139184"/>
                  </a:lnTo>
                  <a:cubicBezTo>
                    <a:pt x="10906760" y="4240784"/>
                    <a:pt x="10824464" y="4323080"/>
                    <a:pt x="10722864" y="4323080"/>
                  </a:cubicBezTo>
                  <a:lnTo>
                    <a:pt x="183896" y="4323080"/>
                  </a:lnTo>
                  <a:cubicBezTo>
                    <a:pt x="82296" y="4323080"/>
                    <a:pt x="0" y="4240784"/>
                    <a:pt x="0" y="4139184"/>
                  </a:cubicBezTo>
                  <a:close/>
                </a:path>
              </a:pathLst>
            </a:custGeom>
            <a:solidFill>
              <a:srgbClr val="EEF4F2"/>
            </a:solidFill>
            <a:ln w="19050" cap="sq">
              <a:solidFill>
                <a:srgbClr val="CAD8D3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224915" y="2596515"/>
            <a:ext cx="636270" cy="636270"/>
            <a:chOff x="0" y="0"/>
            <a:chExt cx="848360" cy="8483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48360" cy="848360"/>
            </a:xfrm>
            <a:custGeom>
              <a:avLst/>
              <a:gdLst/>
              <a:ahLst/>
              <a:cxnLst/>
              <a:rect r="r" b="b" t="t" l="l"/>
              <a:pathLst>
                <a:path h="848360" w="848360">
                  <a:moveTo>
                    <a:pt x="0" y="424180"/>
                  </a:moveTo>
                  <a:cubicBezTo>
                    <a:pt x="0" y="189865"/>
                    <a:pt x="189865" y="0"/>
                    <a:pt x="424180" y="0"/>
                  </a:cubicBezTo>
                  <a:cubicBezTo>
                    <a:pt x="658495" y="0"/>
                    <a:pt x="848360" y="189865"/>
                    <a:pt x="848360" y="424180"/>
                  </a:cubicBezTo>
                  <a:cubicBezTo>
                    <a:pt x="848360" y="658495"/>
                    <a:pt x="658495" y="848360"/>
                    <a:pt x="424180" y="848360"/>
                  </a:cubicBezTo>
                  <a:cubicBezTo>
                    <a:pt x="189865" y="848360"/>
                    <a:pt x="0" y="658495"/>
                    <a:pt x="0" y="424180"/>
                  </a:cubicBezTo>
                  <a:close/>
                </a:path>
              </a:pathLst>
            </a:custGeom>
            <a:solidFill>
              <a:srgbClr val="2F7D5B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2125980" y="2537460"/>
            <a:ext cx="6583680" cy="754380"/>
            <a:chOff x="0" y="0"/>
            <a:chExt cx="8778240" cy="10058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7782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051" r="0" b="-12005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8778240" cy="10725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1F2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Gates, not just tools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125980" y="3440430"/>
            <a:ext cx="6446520" cy="1703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33454A"/>
                </a:solidFill>
                <a:latin typeface="Calibri (MS)"/>
                <a:ea typeface="Calibri (MS)"/>
                <a:cs typeface="Calibri (MS)"/>
                <a:sym typeface="Calibri (MS)"/>
              </a:rPr>
              <a:t>A scan only matters when its result can stop a release.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248775" y="2116455"/>
            <a:ext cx="8180070" cy="3242310"/>
            <a:chOff x="0" y="0"/>
            <a:chExt cx="10906760" cy="43230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906760" cy="4323080"/>
            </a:xfrm>
            <a:custGeom>
              <a:avLst/>
              <a:gdLst/>
              <a:ahLst/>
              <a:cxnLst/>
              <a:rect r="r" b="b" t="t" l="l"/>
              <a:pathLst>
                <a:path h="4323080" w="10906760">
                  <a:moveTo>
                    <a:pt x="0" y="183896"/>
                  </a:moveTo>
                  <a:cubicBezTo>
                    <a:pt x="0" y="82296"/>
                    <a:pt x="82296" y="0"/>
                    <a:pt x="183896" y="0"/>
                  </a:cubicBezTo>
                  <a:lnTo>
                    <a:pt x="10722864" y="0"/>
                  </a:lnTo>
                  <a:cubicBezTo>
                    <a:pt x="10824464" y="0"/>
                    <a:pt x="10906760" y="82296"/>
                    <a:pt x="10906760" y="183896"/>
                  </a:cubicBezTo>
                  <a:lnTo>
                    <a:pt x="10906760" y="4139184"/>
                  </a:lnTo>
                  <a:cubicBezTo>
                    <a:pt x="10906760" y="4240784"/>
                    <a:pt x="10824464" y="4323080"/>
                    <a:pt x="10722864" y="4323080"/>
                  </a:cubicBezTo>
                  <a:lnTo>
                    <a:pt x="183896" y="4323080"/>
                  </a:lnTo>
                  <a:cubicBezTo>
                    <a:pt x="82296" y="4323080"/>
                    <a:pt x="0" y="4240784"/>
                    <a:pt x="0" y="4139184"/>
                  </a:cubicBezTo>
                  <a:close/>
                </a:path>
              </a:pathLst>
            </a:custGeom>
            <a:solidFill>
              <a:srgbClr val="EEF4F2"/>
            </a:solidFill>
            <a:ln w="19050" cap="sq">
              <a:solidFill>
                <a:srgbClr val="CAD8D3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9660255" y="2596515"/>
            <a:ext cx="636270" cy="636270"/>
            <a:chOff x="0" y="0"/>
            <a:chExt cx="848360" cy="8483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48360" cy="848360"/>
            </a:xfrm>
            <a:custGeom>
              <a:avLst/>
              <a:gdLst/>
              <a:ahLst/>
              <a:cxnLst/>
              <a:rect r="r" b="b" t="t" l="l"/>
              <a:pathLst>
                <a:path h="848360" w="848360">
                  <a:moveTo>
                    <a:pt x="0" y="424180"/>
                  </a:moveTo>
                  <a:cubicBezTo>
                    <a:pt x="0" y="189865"/>
                    <a:pt x="189865" y="0"/>
                    <a:pt x="424180" y="0"/>
                  </a:cubicBezTo>
                  <a:cubicBezTo>
                    <a:pt x="658495" y="0"/>
                    <a:pt x="848360" y="189865"/>
                    <a:pt x="848360" y="424180"/>
                  </a:cubicBezTo>
                  <a:cubicBezTo>
                    <a:pt x="848360" y="658495"/>
                    <a:pt x="658495" y="848360"/>
                    <a:pt x="424180" y="848360"/>
                  </a:cubicBezTo>
                  <a:cubicBezTo>
                    <a:pt x="189865" y="848360"/>
                    <a:pt x="0" y="658495"/>
                    <a:pt x="0" y="424180"/>
                  </a:cubicBezTo>
                  <a:close/>
                </a:path>
              </a:pathLst>
            </a:custGeom>
            <a:solidFill>
              <a:srgbClr val="D6453D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0561320" y="2537460"/>
            <a:ext cx="6583680" cy="754380"/>
            <a:chOff x="0" y="0"/>
            <a:chExt cx="8778240" cy="10058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7782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051" r="0" b="-12005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8778240" cy="10725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1F2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Smaller images, fewer CVEs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0561320" y="3440430"/>
            <a:ext cx="6446520" cy="1703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33454A"/>
                </a:solidFill>
                <a:latin typeface="Calibri (MS)"/>
                <a:ea typeface="Calibri (MS)"/>
                <a:cs typeface="Calibri (MS)"/>
                <a:sym typeface="Calibri (MS)"/>
              </a:rPr>
              <a:t>Removing what the app never uses fixed every HIGH finding.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813435" y="5682615"/>
            <a:ext cx="8180070" cy="3242310"/>
            <a:chOff x="0" y="0"/>
            <a:chExt cx="10906760" cy="43230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906760" cy="4323080"/>
            </a:xfrm>
            <a:custGeom>
              <a:avLst/>
              <a:gdLst/>
              <a:ahLst/>
              <a:cxnLst/>
              <a:rect r="r" b="b" t="t" l="l"/>
              <a:pathLst>
                <a:path h="4323080" w="10906760">
                  <a:moveTo>
                    <a:pt x="0" y="183896"/>
                  </a:moveTo>
                  <a:cubicBezTo>
                    <a:pt x="0" y="82296"/>
                    <a:pt x="82296" y="0"/>
                    <a:pt x="183896" y="0"/>
                  </a:cubicBezTo>
                  <a:lnTo>
                    <a:pt x="10722864" y="0"/>
                  </a:lnTo>
                  <a:cubicBezTo>
                    <a:pt x="10824464" y="0"/>
                    <a:pt x="10906760" y="82296"/>
                    <a:pt x="10906760" y="183896"/>
                  </a:cubicBezTo>
                  <a:lnTo>
                    <a:pt x="10906760" y="4139184"/>
                  </a:lnTo>
                  <a:cubicBezTo>
                    <a:pt x="10906760" y="4240784"/>
                    <a:pt x="10824464" y="4323080"/>
                    <a:pt x="10722864" y="4323080"/>
                  </a:cubicBezTo>
                  <a:lnTo>
                    <a:pt x="183896" y="4323080"/>
                  </a:lnTo>
                  <a:cubicBezTo>
                    <a:pt x="82296" y="4323080"/>
                    <a:pt x="0" y="4240784"/>
                    <a:pt x="0" y="4139184"/>
                  </a:cubicBezTo>
                  <a:close/>
                </a:path>
              </a:pathLst>
            </a:custGeom>
            <a:solidFill>
              <a:srgbClr val="EEF4F2"/>
            </a:solidFill>
            <a:ln w="19050" cap="sq">
              <a:solidFill>
                <a:srgbClr val="CAD8D3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224915" y="6162675"/>
            <a:ext cx="636270" cy="636270"/>
            <a:chOff x="0" y="0"/>
            <a:chExt cx="848360" cy="8483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48360" cy="848360"/>
            </a:xfrm>
            <a:custGeom>
              <a:avLst/>
              <a:gdLst/>
              <a:ahLst/>
              <a:cxnLst/>
              <a:rect r="r" b="b" t="t" l="l"/>
              <a:pathLst>
                <a:path h="848360" w="848360">
                  <a:moveTo>
                    <a:pt x="0" y="424180"/>
                  </a:moveTo>
                  <a:cubicBezTo>
                    <a:pt x="0" y="189865"/>
                    <a:pt x="189865" y="0"/>
                    <a:pt x="424180" y="0"/>
                  </a:cubicBezTo>
                  <a:cubicBezTo>
                    <a:pt x="658495" y="0"/>
                    <a:pt x="848360" y="189865"/>
                    <a:pt x="848360" y="424180"/>
                  </a:cubicBezTo>
                  <a:cubicBezTo>
                    <a:pt x="848360" y="658495"/>
                    <a:pt x="658495" y="848360"/>
                    <a:pt x="424180" y="848360"/>
                  </a:cubicBezTo>
                  <a:cubicBezTo>
                    <a:pt x="189865" y="848360"/>
                    <a:pt x="0" y="658495"/>
                    <a:pt x="0" y="424180"/>
                  </a:cubicBezTo>
                  <a:close/>
                </a:path>
              </a:pathLst>
            </a:custGeom>
            <a:solidFill>
              <a:srgbClr val="3D6E8C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2125980" y="6103620"/>
            <a:ext cx="6583680" cy="754380"/>
            <a:chOff x="0" y="0"/>
            <a:chExt cx="8778240" cy="10058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7782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051" r="0" b="-120051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66675"/>
              <a:ext cx="8778240" cy="10725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1F2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Cost is a design input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2125980" y="7006590"/>
            <a:ext cx="6446520" cy="1703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33454A"/>
                </a:solidFill>
                <a:latin typeface="Calibri (MS)"/>
                <a:ea typeface="Calibri (MS)"/>
                <a:cs typeface="Calibri (MS)"/>
                <a:sym typeface="Calibri (MS)"/>
              </a:rPr>
              <a:t>Support policy, NAT and load balancers change the AWS bill more than instance size.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9248775" y="5682615"/>
            <a:ext cx="8180070" cy="3242310"/>
            <a:chOff x="0" y="0"/>
            <a:chExt cx="10906760" cy="43230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906760" cy="4323080"/>
            </a:xfrm>
            <a:custGeom>
              <a:avLst/>
              <a:gdLst/>
              <a:ahLst/>
              <a:cxnLst/>
              <a:rect r="r" b="b" t="t" l="l"/>
              <a:pathLst>
                <a:path h="4323080" w="10906760">
                  <a:moveTo>
                    <a:pt x="0" y="183896"/>
                  </a:moveTo>
                  <a:cubicBezTo>
                    <a:pt x="0" y="82296"/>
                    <a:pt x="82296" y="0"/>
                    <a:pt x="183896" y="0"/>
                  </a:cubicBezTo>
                  <a:lnTo>
                    <a:pt x="10722864" y="0"/>
                  </a:lnTo>
                  <a:cubicBezTo>
                    <a:pt x="10824464" y="0"/>
                    <a:pt x="10906760" y="82296"/>
                    <a:pt x="10906760" y="183896"/>
                  </a:cubicBezTo>
                  <a:lnTo>
                    <a:pt x="10906760" y="4139184"/>
                  </a:lnTo>
                  <a:cubicBezTo>
                    <a:pt x="10906760" y="4240784"/>
                    <a:pt x="10824464" y="4323080"/>
                    <a:pt x="10722864" y="4323080"/>
                  </a:cubicBezTo>
                  <a:lnTo>
                    <a:pt x="183896" y="4323080"/>
                  </a:lnTo>
                  <a:cubicBezTo>
                    <a:pt x="82296" y="4323080"/>
                    <a:pt x="0" y="4240784"/>
                    <a:pt x="0" y="4139184"/>
                  </a:cubicBezTo>
                  <a:close/>
                </a:path>
              </a:pathLst>
            </a:custGeom>
            <a:solidFill>
              <a:srgbClr val="EEF4F2"/>
            </a:solidFill>
            <a:ln w="19050" cap="sq">
              <a:solidFill>
                <a:srgbClr val="CAD8D3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9660255" y="6162675"/>
            <a:ext cx="636270" cy="636270"/>
            <a:chOff x="0" y="0"/>
            <a:chExt cx="848360" cy="84836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48360" cy="848360"/>
            </a:xfrm>
            <a:custGeom>
              <a:avLst/>
              <a:gdLst/>
              <a:ahLst/>
              <a:cxnLst/>
              <a:rect r="r" b="b" t="t" l="l"/>
              <a:pathLst>
                <a:path h="848360" w="848360">
                  <a:moveTo>
                    <a:pt x="0" y="424180"/>
                  </a:moveTo>
                  <a:cubicBezTo>
                    <a:pt x="0" y="189865"/>
                    <a:pt x="189865" y="0"/>
                    <a:pt x="424180" y="0"/>
                  </a:cubicBezTo>
                  <a:cubicBezTo>
                    <a:pt x="658495" y="0"/>
                    <a:pt x="848360" y="189865"/>
                    <a:pt x="848360" y="424180"/>
                  </a:cubicBezTo>
                  <a:cubicBezTo>
                    <a:pt x="848360" y="658495"/>
                    <a:pt x="658495" y="848360"/>
                    <a:pt x="424180" y="848360"/>
                  </a:cubicBezTo>
                  <a:cubicBezTo>
                    <a:pt x="189865" y="848360"/>
                    <a:pt x="0" y="658495"/>
                    <a:pt x="0" y="424180"/>
                  </a:cubicBezTo>
                  <a:close/>
                </a:path>
              </a:pathLst>
            </a:custGeom>
            <a:solidFill>
              <a:srgbClr val="E8A317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0561320" y="6103620"/>
            <a:ext cx="6583680" cy="754380"/>
            <a:chOff x="0" y="0"/>
            <a:chExt cx="8778240" cy="10058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7782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051" r="0" b="-120051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66675"/>
              <a:ext cx="8778240" cy="10725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1F2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Git as the source of truth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10561320" y="7006590"/>
            <a:ext cx="6446520" cy="1703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33454A"/>
                </a:solidFill>
                <a:latin typeface="Calibri (MS)"/>
                <a:ea typeface="Calibri (MS)"/>
                <a:cs typeface="Calibri (MS)"/>
                <a:sym typeface="Calibri (MS)"/>
              </a:rPr>
              <a:t>With Argo CD, the deployed version is a commit you can read and revert.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6824960" y="9608820"/>
            <a:ext cx="64008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52625F"/>
                </a:solidFill>
                <a:latin typeface="Calibri (MS)"/>
                <a:ea typeface="Calibri (MS)"/>
                <a:cs typeface="Calibri (MS)"/>
                <a:sym typeface="Calibri (MS)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2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09600" y="-180975"/>
            <a:ext cx="16047720" cy="5940754"/>
            <a:chOff x="0" y="0"/>
            <a:chExt cx="21396960" cy="79210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396961" cy="7921005"/>
            </a:xfrm>
            <a:custGeom>
              <a:avLst/>
              <a:gdLst/>
              <a:ahLst/>
              <a:cxnLst/>
              <a:rect r="r" b="b" t="t" l="l"/>
              <a:pathLst>
                <a:path h="7921005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7921005"/>
                  </a:lnTo>
                  <a:lnTo>
                    <a:pt x="0" y="79210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473" r="0" b="312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1396960" cy="792100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13679"/>
                </a:lnSpc>
              </a:pPr>
              <a:r>
                <a:rPr lang="en-US" sz="11399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Thank you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792480" y="6141354"/>
            <a:ext cx="16047720" cy="1002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3"/>
              </a:lnSpc>
            </a:pPr>
            <a:r>
              <a:rPr lang="en-US" sz="2599">
                <a:solidFill>
                  <a:srgbClr val="8AB6A0"/>
                </a:solidFill>
                <a:latin typeface="Poppins"/>
                <a:ea typeface="Poppins"/>
                <a:cs typeface="Poppins"/>
                <a:sym typeface="Poppins"/>
              </a:rPr>
              <a:t>Anushika Chauhan  |  Group-A</a:t>
            </a:r>
          </a:p>
          <a:p>
            <a:pPr algn="l">
              <a:lnSpc>
                <a:spcPts val="4003"/>
              </a:lnSpc>
            </a:pPr>
            <a:r>
              <a:rPr lang="en-US" sz="2599">
                <a:solidFill>
                  <a:srgbClr val="8AB6A0"/>
                </a:solidFill>
                <a:latin typeface="Poppins"/>
                <a:ea typeface="Poppins"/>
                <a:cs typeface="Poppins"/>
                <a:sym typeface="Poppins"/>
              </a:rPr>
              <a:t>Repository: </a:t>
            </a:r>
            <a:r>
              <a:rPr lang="en-US" sz="2599" u="sng">
                <a:solidFill>
                  <a:srgbClr val="8AB6A0"/>
                </a:solidFill>
                <a:latin typeface="Poppins"/>
                <a:ea typeface="Poppins"/>
                <a:cs typeface="Poppins"/>
                <a:sym typeface="Poppins"/>
                <a:hlinkClick r:id="rId4" tooltip="https://github.com/Anushika06/ShelfLife-Devops-Capstone.git"/>
              </a:rPr>
              <a:t>https://github.com/Anushika06/ShelfLife-Devops-Capstone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3288815" y="2606314"/>
            <a:ext cx="4160985" cy="5074371"/>
          </a:xfrm>
          <a:custGeom>
            <a:avLst/>
            <a:gdLst/>
            <a:ahLst/>
            <a:cxnLst/>
            <a:rect r="r" b="b" t="t" l="l"/>
            <a:pathLst>
              <a:path h="5074371" w="4160985">
                <a:moveTo>
                  <a:pt x="0" y="0"/>
                </a:moveTo>
                <a:lnTo>
                  <a:pt x="4160985" y="0"/>
                </a:lnTo>
                <a:lnTo>
                  <a:pt x="4160985" y="5074372"/>
                </a:lnTo>
                <a:lnTo>
                  <a:pt x="0" y="507437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DAHYEwRJbVg</dc:identifier>
  <dcterms:modified xsi:type="dcterms:W3CDTF">2011-08-01T06:04:30Z</dcterms:modified>
  <cp:revision>1</cp:revision>
  <dc:title>presentation.pptx</dc:title>
</cp:coreProperties>
</file>